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31_730FD0D6.xml" ContentType="application/vnd.ms-powerpoint.comments+xml"/>
  <Override PartName="/ppt/notesSlides/notesSlide3.xml" ContentType="application/vnd.openxmlformats-officedocument.presentationml.notesSlide+xml"/>
  <Override PartName="/ppt/comments/modernComment_138_27419839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305" r:id="rId6"/>
    <p:sldId id="312" r:id="rId7"/>
    <p:sldId id="327" r:id="rId8"/>
    <p:sldId id="326" r:id="rId9"/>
    <p:sldId id="330" r:id="rId10"/>
    <p:sldId id="331" r:id="rId11"/>
    <p:sldId id="303" r:id="rId12"/>
    <p:sldId id="308" r:id="rId13"/>
    <p:sldId id="310" r:id="rId14"/>
    <p:sldId id="328" r:id="rId15"/>
    <p:sldId id="329" r:id="rId16"/>
    <p:sldId id="332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5" roundtripDataSignature="AMtx7mhox3+tkhJMk4XQDJXvJJdapDWkq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4F12E37-EBF2-7E4F-4E3D-35AAB1446C40}" name="Diego Alamillos" initials="DA" userId="S::dak8992@ads.northwestern.edu::23b2ec89-29fc-4645-a229-b799df9bfa5e" providerId="AD"/>
  <p188:author id="{05D00D49-442E-71BA-C83F-D6ED5876F044}" name="Andrew Jacob Metzger" initials="AJM" userId="S::ajm9851@ads.northwestern.edu::4e2e2a47-e9f9-47c3-b97e-b8e3be5282c7" providerId="AD"/>
  <p188:author id="{74763357-0703-40CB-FE69-C8CA70E5D3F2}" name="Elia Kobayashi" initials="EK" userId="S::tjk4190@ads.northwestern.edu::237c5d56-1f19-4c5f-8738-4492c2f746d9" providerId="AD"/>
  <p188:author id="{3067EA8C-A5EA-63ED-CDF4-70C39F33FC48}" name="Henry Liu" initials="HL" userId="S::mwn9593@ads.northwestern.edu::63fba1fc-28f1-4056-8fa8-759152501d7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45B"/>
    <a:srgbClr val="F73C1B"/>
    <a:srgbClr val="F73C1C"/>
    <a:srgbClr val="CFD5EA"/>
    <a:srgbClr val="F98900"/>
    <a:srgbClr val="FF0000"/>
    <a:srgbClr val="03202F"/>
    <a:srgbClr val="01B3A1"/>
    <a:srgbClr val="201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53"/>
  </p:normalViewPr>
  <p:slideViewPr>
    <p:cSldViewPr snapToGrid="0" showGuides="1">
      <p:cViewPr>
        <p:scale>
          <a:sx n="116" d="100"/>
          <a:sy n="116" d="100"/>
        </p:scale>
        <p:origin x="16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35" Type="http://customschemas.google.com/relationships/presentationmetadata" Target="metadata"/></Relationships>
</file>

<file path=ppt/comments/modernComment_131_730FD0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46AAAC-A89C-6F41-8C65-E6C2954E5AE3}" authorId="{05D00D49-442E-71BA-C83F-D6ED5876F044}" status="resolved" created="2025-04-30T18:10:39.15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30416342" sldId="305"/>
      <ac:spMk id="14" creationId="{EE5CAB49-D72A-94E2-E77E-CE1E98235979}"/>
      <ac:txMk cp="0">
        <ac:context len="10" hash="1268959003"/>
      </ac:txMk>
    </ac:txMkLst>
    <p188:txBody>
      <a:bodyPr/>
      <a:lstStyle/>
      <a:p>
        <a:r>
          <a:rPr lang="en-US"/>
          <a:t>Make Formula</a:t>
        </a:r>
      </a:p>
    </p188:txBody>
  </p188:cm>
</p188:cmLst>
</file>

<file path=ppt/comments/modernComment_138_2741983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0107E2-5320-7A47-A4CF-2D26718EFF9F}" authorId="{05D00D49-442E-71BA-C83F-D6ED5876F044}" status="resolved" created="2025-05-27T05:11:23.446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58610233" sldId="312"/>
      <ac:spMk id="14" creationId="{EE5CAB49-D72A-94E2-E77E-CE1E98235979}"/>
    </ac:deMkLst>
    <p188:txBody>
      <a:bodyPr/>
      <a:lstStyle/>
      <a:p>
        <a:r>
          <a:rPr lang="en-US"/>
          <a:t>Find these #s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3473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2057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8144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7960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E4D1C74F-237B-76E6-55F2-2E14AADC3C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oogle Shape;15;p5"/>
          <p:cNvSpPr txBox="1">
            <a:spLocks noGrp="1"/>
          </p:cNvSpPr>
          <p:nvPr>
            <p:ph type="body" idx="1"/>
          </p:nvPr>
        </p:nvSpPr>
        <p:spPr>
          <a:xfrm>
            <a:off x="469850" y="3187331"/>
            <a:ext cx="6731050" cy="353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  <a:defRPr sz="1750" b="1" i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469850" y="2681592"/>
            <a:ext cx="7835950" cy="4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50"/>
              <a:buNone/>
              <a:defRPr sz="2850" b="1" i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3"/>
          </p:nvPr>
        </p:nvSpPr>
        <p:spPr>
          <a:xfrm>
            <a:off x="469850" y="5600709"/>
            <a:ext cx="5988100" cy="46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8BA786-F647-D2F7-C65F-AC55A1759DE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BB8C9-AAE5-24B7-8482-2041050C7D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207" y="260486"/>
            <a:ext cx="622593" cy="62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377C0A7-ACDC-7933-ED35-06D86004EE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98" y="226466"/>
            <a:ext cx="2717240" cy="69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o not remove" hidden="1">
            <a:extLst>
              <a:ext uri="{FF2B5EF4-FFF2-40B4-BE49-F238E27FC236}">
                <a16:creationId xmlns:a16="http://schemas.microsoft.com/office/drawing/2014/main" id="{345DC113-1FFC-2A5C-60FC-A513FDB3222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457200" y="346020"/>
            <a:ext cx="8229600" cy="21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None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457200" y="1308849"/>
            <a:ext cx="8229600" cy="4874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2"/>
          </p:nvPr>
        </p:nvSpPr>
        <p:spPr>
          <a:xfrm>
            <a:off x="457200" y="622083"/>
            <a:ext cx="8229600" cy="545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6" name="Google Shape;26;p7"/>
          <p:cNvCxnSpPr/>
          <p:nvPr/>
        </p:nvCxnSpPr>
        <p:spPr>
          <a:xfrm>
            <a:off x="457200" y="594319"/>
            <a:ext cx="8229600" cy="0"/>
          </a:xfrm>
          <a:prstGeom prst="straightConnector1">
            <a:avLst/>
          </a:prstGeom>
          <a:noFill/>
          <a:ln w="317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023860" y="6336180"/>
            <a:ext cx="662940" cy="234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3A3838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3"/>
          </p:nvPr>
        </p:nvSpPr>
        <p:spPr>
          <a:xfrm>
            <a:off x="457200" y="6275294"/>
            <a:ext cx="8229600" cy="38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/>
          <p:nvPr/>
        </p:nvSpPr>
        <p:spPr>
          <a:xfrm>
            <a:off x="3474349" y="6546568"/>
            <a:ext cx="2195302" cy="206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3A383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1" name="Google Shape;31;p7"/>
          <p:cNvCxnSpPr>
            <a:cxnSpLocks/>
          </p:cNvCxnSpPr>
          <p:nvPr/>
        </p:nvCxnSpPr>
        <p:spPr>
          <a:xfrm>
            <a:off x="457200" y="6257363"/>
            <a:ext cx="82296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C1F1A67-71E4-5CC9-BF48-4589842C0D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280" y="201665"/>
            <a:ext cx="315520" cy="31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5B6FB8A-69A3-68B4-3404-8A99DD1E3B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268" y="201202"/>
            <a:ext cx="1377053" cy="35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C35EA4"/>
          </p15:clr>
        </p15:guide>
        <p15:guide id="2" orient="horz" pos="744">
          <p15:clr>
            <a:srgbClr val="FBAE40"/>
          </p15:clr>
        </p15:guide>
        <p15:guide id="3" orient="horz" pos="168">
          <p15:clr>
            <a:srgbClr val="FBAE40"/>
          </p15:clr>
        </p15:guide>
        <p15:guide id="4" orient="horz" pos="42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57200" y="228202"/>
            <a:ext cx="8229600" cy="454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ftr" idx="11"/>
          </p:nvPr>
        </p:nvSpPr>
        <p:spPr>
          <a:xfrm>
            <a:off x="3028950" y="6441281"/>
            <a:ext cx="3086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9306732" y="654752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dt" idx="10"/>
          </p:nvPr>
        </p:nvSpPr>
        <p:spPr>
          <a:xfrm>
            <a:off x="457200" y="6496207"/>
            <a:ext cx="216876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ftr" idx="11"/>
          </p:nvPr>
        </p:nvSpPr>
        <p:spPr>
          <a:xfrm>
            <a:off x="3028950" y="6441281"/>
            <a:ext cx="3086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9306732" y="654752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dt" idx="10"/>
          </p:nvPr>
        </p:nvSpPr>
        <p:spPr>
          <a:xfrm>
            <a:off x="457200" y="6496207"/>
            <a:ext cx="216876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ftr" idx="11"/>
          </p:nvPr>
        </p:nvSpPr>
        <p:spPr>
          <a:xfrm>
            <a:off x="3028950" y="6441281"/>
            <a:ext cx="3086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9306732" y="654752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3200"/>
              <a:buChar char="▪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457200" y="6496207"/>
            <a:ext cx="216876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3028950" y="6441281"/>
            <a:ext cx="3086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306732" y="654752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eorg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457200" y="6496207"/>
            <a:ext cx="216876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3028950" y="6441281"/>
            <a:ext cx="3086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9306732" y="654752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457200" y="228202"/>
            <a:ext cx="8229600" cy="454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1"/>
          </p:nvPr>
        </p:nvSpPr>
        <p:spPr>
          <a:xfrm rot="5400000">
            <a:off x="1913731" y="-313531"/>
            <a:ext cx="531653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dt" idx="10"/>
          </p:nvPr>
        </p:nvSpPr>
        <p:spPr>
          <a:xfrm>
            <a:off x="457200" y="6496207"/>
            <a:ext cx="216876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ftr" idx="11"/>
          </p:nvPr>
        </p:nvSpPr>
        <p:spPr>
          <a:xfrm>
            <a:off x="3028950" y="6441281"/>
            <a:ext cx="3086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9306732" y="654752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dt" idx="10"/>
          </p:nvPr>
        </p:nvSpPr>
        <p:spPr>
          <a:xfrm>
            <a:off x="457200" y="6496207"/>
            <a:ext cx="216876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ftr" idx="11"/>
          </p:nvPr>
        </p:nvSpPr>
        <p:spPr>
          <a:xfrm>
            <a:off x="3028950" y="6441281"/>
            <a:ext cx="3086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9306732" y="654752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457200" y="228202"/>
            <a:ext cx="8229600" cy="454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45700" rIns="91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Georgia"/>
              <a:buNone/>
              <a:defRPr sz="25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5316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rgbClr val="1716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171616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171616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171616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171616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7772400" y="6547520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98251-01D4-EDED-1217-4F9166D4E961}"/>
              </a:ext>
            </a:extLst>
          </p:cNvPr>
          <p:cNvSpPr/>
          <p:nvPr userDrawn="1"/>
        </p:nvSpPr>
        <p:spPr>
          <a:xfrm>
            <a:off x="-2002047" y="3561439"/>
            <a:ext cx="1884680" cy="1216152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Hex Code: #00345b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56053-3C54-D992-FE6F-8EEF7BF6B502}"/>
              </a:ext>
            </a:extLst>
          </p:cNvPr>
          <p:cNvSpPr/>
          <p:nvPr userDrawn="1"/>
        </p:nvSpPr>
        <p:spPr>
          <a:xfrm>
            <a:off x="-2002047" y="2100646"/>
            <a:ext cx="1884680" cy="1216152"/>
          </a:xfrm>
          <a:prstGeom prst="rect">
            <a:avLst/>
          </a:prstGeom>
          <a:solidFill>
            <a:srgbClr val="F73C1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Hex Code: #f73c1b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1">
          <p15:clr>
            <a:srgbClr val="C35EA4"/>
          </p15:clr>
        </p15:guide>
        <p15:guide id="2" pos="288">
          <p15:clr>
            <a:srgbClr val="547EBF"/>
          </p15:clr>
        </p15:guide>
        <p15:guide id="3" pos="5472">
          <p15:clr>
            <a:srgbClr val="547EBF"/>
          </p15:clr>
        </p15:guide>
        <p15:guide id="4" pos="2880">
          <p15:clr>
            <a:srgbClr val="F26B43"/>
          </p15:clr>
        </p15:guide>
        <p15:guide id="5" orient="horz" pos="432">
          <p15:clr>
            <a:srgbClr val="C35EA4"/>
          </p15:clr>
        </p15:guide>
        <p15:guide id="6" orient="horz" pos="720">
          <p15:clr>
            <a:srgbClr val="C35EA4"/>
          </p15:clr>
        </p15:guide>
        <p15:guide id="7" orient="horz" pos="144">
          <p15:clr>
            <a:srgbClr val="547EBF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1_730FD0D6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8_2741983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>
            <a:spLocks noGrp="1"/>
          </p:cNvSpPr>
          <p:nvPr>
            <p:ph type="body" idx="1"/>
          </p:nvPr>
        </p:nvSpPr>
        <p:spPr>
          <a:xfrm>
            <a:off x="469850" y="3187331"/>
            <a:ext cx="6731050" cy="353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None/>
            </a:pPr>
            <a:r>
              <a:rPr lang="es-ES" sz="1600" dirty="0" err="1"/>
              <a:t>Presentation</a:t>
            </a:r>
            <a:r>
              <a:rPr lang="es-ES" sz="1600" dirty="0"/>
              <a:t> #5</a:t>
            </a:r>
            <a:endParaRPr sz="1600" dirty="0"/>
          </a:p>
        </p:txBody>
      </p:sp>
      <p:sp>
        <p:nvSpPr>
          <p:cNvPr id="82" name="Google Shape;82;p1"/>
          <p:cNvSpPr txBox="1">
            <a:spLocks noGrp="1"/>
          </p:cNvSpPr>
          <p:nvPr>
            <p:ph type="body" idx="2"/>
          </p:nvPr>
        </p:nvSpPr>
        <p:spPr>
          <a:xfrm>
            <a:off x="469850" y="2681592"/>
            <a:ext cx="8216950" cy="48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None/>
            </a:pPr>
            <a:r>
              <a:rPr lang="es-ES"/>
              <a:t>Legal Aid Chicago </a:t>
            </a:r>
            <a:r>
              <a:rPr lang="es-ES" err="1"/>
              <a:t>Menu</a:t>
            </a:r>
            <a:r>
              <a:rPr lang="es-ES"/>
              <a:t> </a:t>
            </a:r>
            <a:r>
              <a:rPr lang="es-ES" err="1"/>
              <a:t>Redesign</a:t>
            </a:r>
            <a:endParaRPr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3"/>
          </p:nvPr>
        </p:nvSpPr>
        <p:spPr>
          <a:xfrm>
            <a:off x="469850" y="5600709"/>
            <a:ext cx="5852891" cy="466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s-ES"/>
              <a:t>Andrew </a:t>
            </a:r>
            <a:r>
              <a:rPr lang="es-ES" err="1"/>
              <a:t>Metzger</a:t>
            </a:r>
            <a:r>
              <a:rPr lang="es-ES"/>
              <a:t>, Alex </a:t>
            </a:r>
            <a:r>
              <a:rPr lang="es-ES" err="1"/>
              <a:t>Barbatsis</a:t>
            </a:r>
            <a:r>
              <a:rPr lang="es-ES"/>
              <a:t>, Daniel Gold, and Fai </a:t>
            </a:r>
            <a:r>
              <a:rPr lang="es-ES" err="1"/>
              <a:t>Poungpeth</a:t>
            </a:r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04684-E5BA-6015-5E05-8A344D41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CCDDB-F1B3-90B5-1889-C2B38034EFC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7200" y="6275294"/>
            <a:ext cx="8011886" cy="385482"/>
          </a:xfrm>
        </p:spPr>
        <p:txBody>
          <a:bodyPr/>
          <a:lstStyle/>
          <a:p>
            <a:r>
              <a:rPr lang="en-US" dirty="0"/>
              <a:t>Sources: CAR Data</a:t>
            </a:r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A42689F4-FA5D-DB00-E17B-8C483BC23A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9DA7E98C-3729-28CB-25B4-71D57F1BA7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B0DAA9-DEBD-A051-1ED9-B54780D74B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E8E91D-2637-B030-2B49-D4F736A3DD4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Potential Caller Capability Improvement</a:t>
            </a:r>
          </a:p>
        </p:txBody>
      </p:sp>
      <p:sp>
        <p:nvSpPr>
          <p:cNvPr id="11" name="Google Shape;90;p2">
            <a:extLst>
              <a:ext uri="{FF2B5EF4-FFF2-40B4-BE49-F238E27FC236}">
                <a16:creationId xmlns:a16="http://schemas.microsoft.com/office/drawing/2014/main" id="{A8DFE799-ECA9-0008-ECFA-F4A65F102A90}"/>
              </a:ext>
            </a:extLst>
          </p:cNvPr>
          <p:cNvSpPr/>
          <p:nvPr/>
        </p:nvSpPr>
        <p:spPr>
          <a:xfrm>
            <a:off x="461960" y="1284083"/>
            <a:ext cx="8224839" cy="545006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The current phone system has inefficiencies, which creates an opportunity to redesign the menu in order for </a:t>
            </a:r>
            <a:r>
              <a:rPr lang="en-US" b="1" err="1">
                <a:solidFill>
                  <a:schemeClr val="lt1"/>
                </a:solidFill>
                <a:latin typeface="Trebuchet MS"/>
                <a:sym typeface="Trebuchet MS"/>
              </a:rPr>
              <a:t>LegalAid</a:t>
            </a: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 to be able to answer more callers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9E127114-A083-706B-EB93-2137EE34F8E4}"/>
              </a:ext>
            </a:extLst>
          </p:cNvPr>
          <p:cNvSpPr>
            <a:spLocks/>
          </p:cNvSpPr>
          <p:nvPr/>
        </p:nvSpPr>
        <p:spPr>
          <a:xfrm>
            <a:off x="4345779" y="1895574"/>
            <a:ext cx="457200" cy="457200"/>
          </a:xfrm>
          <a:prstGeom prst="downArrow">
            <a:avLst/>
          </a:prstGeom>
          <a:solidFill>
            <a:srgbClr val="F73C1B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oogle Shape;90;p2">
            <a:extLst>
              <a:ext uri="{FF2B5EF4-FFF2-40B4-BE49-F238E27FC236}">
                <a16:creationId xmlns:a16="http://schemas.microsoft.com/office/drawing/2014/main" id="{B4B1FDF4-6FAE-23F5-50EF-A2998B14CA25}"/>
              </a:ext>
            </a:extLst>
          </p:cNvPr>
          <p:cNvSpPr/>
          <p:nvPr/>
        </p:nvSpPr>
        <p:spPr>
          <a:xfrm>
            <a:off x="461960" y="2419259"/>
            <a:ext cx="8224839" cy="27432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We propose a new menu design, which will help </a:t>
            </a:r>
            <a:r>
              <a:rPr lang="en-US" b="1" err="1">
                <a:solidFill>
                  <a:schemeClr val="lt1"/>
                </a:solidFill>
                <a:latin typeface="Trebuchet MS"/>
                <a:sym typeface="Trebuchet MS"/>
              </a:rPr>
              <a:t>LegalAid</a:t>
            </a: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 reach more clients, as follows: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0E66F5-ED36-45B9-DB39-99F41620B2F9}"/>
              </a:ext>
            </a:extLst>
          </p:cNvPr>
          <p:cNvSpPr/>
          <p:nvPr/>
        </p:nvSpPr>
        <p:spPr>
          <a:xfrm>
            <a:off x="827720" y="2824704"/>
            <a:ext cx="5594277" cy="731520"/>
          </a:xfrm>
          <a:prstGeom prst="rect">
            <a:avLst/>
          </a:prstGeom>
          <a:solidFill>
            <a:srgbClr val="00345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74320" algn="ctr"/>
            <a:r>
              <a:rPr lang="en-US" b="1" dirty="0">
                <a:solidFill>
                  <a:schemeClr val="bg1"/>
                </a:solidFill>
                <a:latin typeface="Trebuchet MS"/>
              </a:rPr>
              <a:t>525 Hours Saved (i.e. 28.6 seconds saved per caller affected)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rebuchet MS"/>
              </a:rPr>
              <a:t>[UPDATE BASED ON OTHERS’ WORK]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5E5BA97-55F4-E652-3B72-6091E3F2C9E7}"/>
              </a:ext>
            </a:extLst>
          </p:cNvPr>
          <p:cNvSpPr>
            <a:spLocks noChangeAspect="1"/>
          </p:cNvSpPr>
          <p:nvPr/>
        </p:nvSpPr>
        <p:spPr>
          <a:xfrm>
            <a:off x="461960" y="2824704"/>
            <a:ext cx="731520" cy="731520"/>
          </a:xfrm>
          <a:prstGeom prst="ellipse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rebuchet MS" panose="020B0703020202090204" pitchFamily="34" charset="0"/>
              </a:rPr>
              <a:t>A</a:t>
            </a:r>
          </a:p>
        </p:txBody>
      </p:sp>
      <p:sp>
        <p:nvSpPr>
          <p:cNvPr id="41" name="Triangle 40">
            <a:extLst>
              <a:ext uri="{FF2B5EF4-FFF2-40B4-BE49-F238E27FC236}">
                <a16:creationId xmlns:a16="http://schemas.microsoft.com/office/drawing/2014/main" id="{9EBB9028-6490-BB5A-BE84-491A4CAF4776}"/>
              </a:ext>
            </a:extLst>
          </p:cNvPr>
          <p:cNvSpPr>
            <a:spLocks noChangeAspect="1"/>
          </p:cNvSpPr>
          <p:nvPr/>
        </p:nvSpPr>
        <p:spPr>
          <a:xfrm rot="5400000">
            <a:off x="6370790" y="2875914"/>
            <a:ext cx="731520" cy="629107"/>
          </a:xfrm>
          <a:prstGeom prst="triangle">
            <a:avLst/>
          </a:prstGeom>
          <a:solidFill>
            <a:srgbClr val="00345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se links below to save image.">
            <a:extLst>
              <a:ext uri="{FF2B5EF4-FFF2-40B4-BE49-F238E27FC236}">
                <a16:creationId xmlns:a16="http://schemas.microsoft.com/office/drawing/2014/main" id="{45560313-9719-4850-08AB-77CCF5347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191" y="2824704"/>
            <a:ext cx="73152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8488267-2C52-B726-E8FA-18C5F60BE377}"/>
              </a:ext>
            </a:extLst>
          </p:cNvPr>
          <p:cNvSpPr/>
          <p:nvPr/>
        </p:nvSpPr>
        <p:spPr>
          <a:xfrm>
            <a:off x="827720" y="3687353"/>
            <a:ext cx="5594277" cy="731520"/>
          </a:xfrm>
          <a:prstGeom prst="rect">
            <a:avLst/>
          </a:prstGeom>
          <a:solidFill>
            <a:srgbClr val="00345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4320" algn="ctr"/>
            <a:r>
              <a:rPr lang="en-US" b="1" dirty="0">
                <a:solidFill>
                  <a:schemeClr val="bg1"/>
                </a:solidFill>
                <a:latin typeface="Trebuchet MS" panose="020B0703020202090204" pitchFamily="34" charset="0"/>
              </a:rPr>
              <a:t>66,169 Number of Callers Impacted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rebuchet MS" panose="020B0703020202090204" pitchFamily="34" charset="0"/>
              </a:rPr>
              <a:t>[UPDATE BASED ON OTHERS’ WORK]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8CF4CC3-5A1A-6166-F64A-7A52540F81D4}"/>
              </a:ext>
            </a:extLst>
          </p:cNvPr>
          <p:cNvSpPr>
            <a:spLocks noChangeAspect="1"/>
          </p:cNvSpPr>
          <p:nvPr/>
        </p:nvSpPr>
        <p:spPr>
          <a:xfrm>
            <a:off x="461960" y="3687353"/>
            <a:ext cx="731520" cy="731520"/>
          </a:xfrm>
          <a:prstGeom prst="ellipse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rebuchet MS" panose="020B0703020202090204" pitchFamily="34" charset="0"/>
              </a:rPr>
              <a:t>B</a:t>
            </a:r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FAC62B99-B870-A8E5-61C9-CCF323D61995}"/>
              </a:ext>
            </a:extLst>
          </p:cNvPr>
          <p:cNvSpPr>
            <a:spLocks noChangeAspect="1"/>
          </p:cNvSpPr>
          <p:nvPr/>
        </p:nvSpPr>
        <p:spPr>
          <a:xfrm rot="5400000">
            <a:off x="6370790" y="3738561"/>
            <a:ext cx="731520" cy="629107"/>
          </a:xfrm>
          <a:prstGeom prst="triangle">
            <a:avLst/>
          </a:prstGeom>
          <a:solidFill>
            <a:srgbClr val="00345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49F360E-E884-2523-77E6-28AB98545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3530" y="3687353"/>
            <a:ext cx="730843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1CCCAE7-6EEF-55ED-768E-6975FB18AC3B}"/>
              </a:ext>
            </a:extLst>
          </p:cNvPr>
          <p:cNvSpPr/>
          <p:nvPr/>
        </p:nvSpPr>
        <p:spPr>
          <a:xfrm>
            <a:off x="827720" y="4550000"/>
            <a:ext cx="5594277" cy="731520"/>
          </a:xfrm>
          <a:prstGeom prst="rect">
            <a:avLst/>
          </a:prstGeom>
          <a:solidFill>
            <a:srgbClr val="00345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74320" algn="ctr"/>
            <a:r>
              <a:rPr lang="en-US" b="1" dirty="0">
                <a:solidFill>
                  <a:schemeClr val="bg1"/>
                </a:solidFill>
                <a:latin typeface="Trebuchet MS"/>
              </a:rPr>
              <a:t>48 Nodes and 57 Branches Reduced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rebuchet MS"/>
              </a:rPr>
              <a:t>[UPDATE BASED ON OTHERS’ WORK]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5FA8E87-F638-08DB-F852-D7781A9B33E6}"/>
              </a:ext>
            </a:extLst>
          </p:cNvPr>
          <p:cNvSpPr>
            <a:spLocks noChangeAspect="1"/>
          </p:cNvSpPr>
          <p:nvPr/>
        </p:nvSpPr>
        <p:spPr>
          <a:xfrm>
            <a:off x="461960" y="4550000"/>
            <a:ext cx="731520" cy="731520"/>
          </a:xfrm>
          <a:prstGeom prst="ellipse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rebuchet MS" panose="020B0703020202090204" pitchFamily="34" charset="0"/>
              </a:rPr>
              <a:t>C</a:t>
            </a:r>
          </a:p>
        </p:txBody>
      </p:sp>
      <p:sp>
        <p:nvSpPr>
          <p:cNvPr id="43" name="Triangle 42">
            <a:extLst>
              <a:ext uri="{FF2B5EF4-FFF2-40B4-BE49-F238E27FC236}">
                <a16:creationId xmlns:a16="http://schemas.microsoft.com/office/drawing/2014/main" id="{81EFF592-6F9A-8941-7633-07A05116C284}"/>
              </a:ext>
            </a:extLst>
          </p:cNvPr>
          <p:cNvSpPr>
            <a:spLocks noChangeAspect="1"/>
          </p:cNvSpPr>
          <p:nvPr/>
        </p:nvSpPr>
        <p:spPr>
          <a:xfrm rot="5400000">
            <a:off x="6370790" y="4601208"/>
            <a:ext cx="731520" cy="629107"/>
          </a:xfrm>
          <a:prstGeom prst="triangle">
            <a:avLst/>
          </a:prstGeom>
          <a:solidFill>
            <a:srgbClr val="00345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90B9C95-9DD8-7F84-3B7B-2AD47E20C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353" y="4550000"/>
            <a:ext cx="1025196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C81BB2B-FE1E-1910-45C1-F2F5E2E0A4F9}"/>
              </a:ext>
            </a:extLst>
          </p:cNvPr>
          <p:cNvSpPr/>
          <p:nvPr/>
        </p:nvSpPr>
        <p:spPr>
          <a:xfrm>
            <a:off x="827720" y="5412647"/>
            <a:ext cx="5594277" cy="731520"/>
          </a:xfrm>
          <a:prstGeom prst="rect">
            <a:avLst/>
          </a:prstGeom>
          <a:solidFill>
            <a:srgbClr val="00345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74320" algn="ctr"/>
            <a:r>
              <a:rPr lang="en-US" b="1" dirty="0">
                <a:solidFill>
                  <a:schemeClr val="bg1"/>
                </a:solidFill>
                <a:latin typeface="Trebuchet MS"/>
              </a:rPr>
              <a:t>?? More Calls Legal Aid Can Service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rebuchet MS"/>
              </a:rPr>
              <a:t>[UPDATE BASED ON CYNTHIA’S RESPONSE]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AC53C10-92CC-FB04-EDFC-FF13F970F4DE}"/>
              </a:ext>
            </a:extLst>
          </p:cNvPr>
          <p:cNvSpPr>
            <a:spLocks noChangeAspect="1"/>
          </p:cNvSpPr>
          <p:nvPr/>
        </p:nvSpPr>
        <p:spPr>
          <a:xfrm>
            <a:off x="461960" y="5412647"/>
            <a:ext cx="731520" cy="731520"/>
          </a:xfrm>
          <a:prstGeom prst="ellipse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rebuchet MS" panose="020B0703020202090204" pitchFamily="34" charset="0"/>
              </a:rPr>
              <a:t>D</a:t>
            </a:r>
          </a:p>
        </p:txBody>
      </p:sp>
      <p:sp>
        <p:nvSpPr>
          <p:cNvPr id="44" name="Triangle 43">
            <a:extLst>
              <a:ext uri="{FF2B5EF4-FFF2-40B4-BE49-F238E27FC236}">
                <a16:creationId xmlns:a16="http://schemas.microsoft.com/office/drawing/2014/main" id="{5F13DA23-5BB3-726D-0CD1-4402CAE17E78}"/>
              </a:ext>
            </a:extLst>
          </p:cNvPr>
          <p:cNvSpPr>
            <a:spLocks noChangeAspect="1"/>
          </p:cNvSpPr>
          <p:nvPr/>
        </p:nvSpPr>
        <p:spPr>
          <a:xfrm rot="5400000">
            <a:off x="6370790" y="5463855"/>
            <a:ext cx="731520" cy="629107"/>
          </a:xfrm>
          <a:prstGeom prst="triangle">
            <a:avLst/>
          </a:prstGeom>
          <a:solidFill>
            <a:srgbClr val="00345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4D79815-0FCE-38E7-6DDD-8CC1893892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 t="10875" r="4374" b="11125"/>
          <a:stretch/>
        </p:blipFill>
        <p:spPr bwMode="auto">
          <a:xfrm>
            <a:off x="7442231" y="5412647"/>
            <a:ext cx="85344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41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21" grpId="0" animBg="1"/>
      <p:bldP spid="22" grpId="0" animBg="1"/>
      <p:bldP spid="23" grpId="0" animBg="1"/>
      <p:bldP spid="41" grpId="0" animBg="1"/>
      <p:bldP spid="25" grpId="0" animBg="1"/>
      <p:bldP spid="26" grpId="0" animBg="1"/>
      <p:bldP spid="42" grpId="0" animBg="1"/>
      <p:bldP spid="27" grpId="0" animBg="1"/>
      <p:bldP spid="28" grpId="0" animBg="1"/>
      <p:bldP spid="43" grpId="0" animBg="1"/>
      <p:bldP spid="29" grpId="0" animBg="1"/>
      <p:bldP spid="30" grpId="0" animBg="1"/>
      <p:bldP spid="44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04684-E5BA-6015-5E05-8A344D41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LEGAL MENU REDESIGN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CCDDB-F1B3-90B5-1889-C2B38034EFC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7200" y="6275294"/>
            <a:ext cx="8011886" cy="385482"/>
          </a:xfrm>
        </p:spPr>
        <p:txBody>
          <a:bodyPr/>
          <a:lstStyle/>
          <a:p>
            <a:r>
              <a:rPr lang="en-US"/>
              <a:t>Sources: CAR Data</a:t>
            </a:r>
          </a:p>
        </p:txBody>
      </p:sp>
      <p:sp>
        <p:nvSpPr>
          <p:cNvPr id="3" name="Google Shape;90;p2">
            <a:extLst>
              <a:ext uri="{FF2B5EF4-FFF2-40B4-BE49-F238E27FC236}">
                <a16:creationId xmlns:a16="http://schemas.microsoft.com/office/drawing/2014/main" id="{9E344793-5B2D-FABF-A5FD-79D21054B50F}"/>
              </a:ext>
            </a:extLst>
          </p:cNvPr>
          <p:cNvSpPr/>
          <p:nvPr/>
        </p:nvSpPr>
        <p:spPr>
          <a:xfrm>
            <a:off x="461961" y="1284083"/>
            <a:ext cx="3988118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Old Flow</a:t>
            </a:r>
            <a:endParaRPr lang="en-US"/>
          </a:p>
        </p:txBody>
      </p:sp>
      <p:sp>
        <p:nvSpPr>
          <p:cNvPr id="13" name="Google Shape;90;p2">
            <a:extLst>
              <a:ext uri="{FF2B5EF4-FFF2-40B4-BE49-F238E27FC236}">
                <a16:creationId xmlns:a16="http://schemas.microsoft.com/office/drawing/2014/main" id="{74592440-0B28-2C2E-F0DA-3F479FE3891F}"/>
              </a:ext>
            </a:extLst>
          </p:cNvPr>
          <p:cNvSpPr/>
          <p:nvPr/>
        </p:nvSpPr>
        <p:spPr>
          <a:xfrm>
            <a:off x="4698681" y="1284083"/>
            <a:ext cx="3988118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New Flow</a:t>
            </a:r>
            <a:endParaRPr lang="en-US"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B0DAA9-DEBD-A051-1ED9-B54780D74B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5CAB49-D72A-94E2-E77E-CE1E98235979}"/>
              </a:ext>
            </a:extLst>
          </p:cNvPr>
          <p:cNvSpPr/>
          <p:nvPr/>
        </p:nvSpPr>
        <p:spPr>
          <a:xfrm>
            <a:off x="464341" y="4655079"/>
            <a:ext cx="8222459" cy="1411170"/>
          </a:xfrm>
          <a:prstGeom prst="rect">
            <a:avLst/>
          </a:prstGeom>
          <a:ln w="19050">
            <a:solidFill>
              <a:srgbClr val="00345B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36.6%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of callers reach LegalMenu2, meaning simplifying this menu will have an impact on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57,538 callers</a:t>
            </a: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13.9%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of those who go to the LegalMenu2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listen more than 1 time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&gt;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fewer options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will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reduce this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(less confusion)</a:t>
            </a:r>
            <a:endParaRPr lang="en-US" sz="1100" b="1" dirty="0">
              <a:solidFill>
                <a:schemeClr val="tx1"/>
              </a:solidFill>
              <a:latin typeface="Trebuchet MS"/>
              <a:sym typeface="Trebuchet MS"/>
            </a:endParaRP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Of those in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LegalMenu2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, the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average number of times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a person listens to the menu is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1.2 times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&gt; this will be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reduced</a:t>
            </a:r>
            <a:endParaRPr lang="en-US" sz="1100" dirty="0">
              <a:solidFill>
                <a:schemeClr val="tx1"/>
              </a:solidFill>
              <a:latin typeface="Trebuchet MS"/>
              <a:sym typeface="Trebuchet MS"/>
            </a:endParaRP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The average amount of time it takes people to make a selection on this menu is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1 minute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and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22 seconds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&gt; rearranging in this order will save callers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26 seconds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(see next slide)</a:t>
            </a:r>
            <a:endParaRPr lang="en-US" sz="1100" b="1" dirty="0">
              <a:solidFill>
                <a:schemeClr val="tx1"/>
              </a:solidFill>
              <a:latin typeface="Trebuchet MS"/>
              <a:sym typeface="Trebuchet MS"/>
            </a:endParaRP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Although this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increases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the # of nodes by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1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, it should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reduce confusion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and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reduce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the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average amount of time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a caller takes to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reach their destination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A04C38-1E4A-5A5B-AEAE-B587E2D029B7}"/>
              </a:ext>
            </a:extLst>
          </p:cNvPr>
          <p:cNvSpPr/>
          <p:nvPr/>
        </p:nvSpPr>
        <p:spPr>
          <a:xfrm>
            <a:off x="471055" y="4634212"/>
            <a:ext cx="8215745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  <a:latin typeface="Trebuchet MS" panose="020B0703020202090204" pitchFamily="34" charset="0"/>
              </a:rPr>
              <a:t>Qualified Benefit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E8E91D-2637-B030-2B49-D4F736A3DD4C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Reducing the # of options callers listen to, we can avoid confusion and save callers time from needing the many options repeated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FAA576-F3D2-7EC7-CC37-D681A5B41927}"/>
              </a:ext>
            </a:extLst>
          </p:cNvPr>
          <p:cNvSpPr/>
          <p:nvPr/>
        </p:nvSpPr>
        <p:spPr>
          <a:xfrm>
            <a:off x="471055" y="211721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HIV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1E280C-3C90-DE82-7BD2-E0D6BB6FF0F3}"/>
              </a:ext>
            </a:extLst>
          </p:cNvPr>
          <p:cNvSpPr/>
          <p:nvPr/>
        </p:nvSpPr>
        <p:spPr>
          <a:xfrm>
            <a:off x="751708" y="2621707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Family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6277EB-73DD-1AEA-C7EE-1C4395B4DB54}"/>
              </a:ext>
            </a:extLst>
          </p:cNvPr>
          <p:cNvSpPr/>
          <p:nvPr/>
        </p:nvSpPr>
        <p:spPr>
          <a:xfrm>
            <a:off x="1032361" y="312619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Housing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2E7187-02FA-524A-A277-849F0C203721}"/>
              </a:ext>
            </a:extLst>
          </p:cNvPr>
          <p:cNvSpPr/>
          <p:nvPr/>
        </p:nvSpPr>
        <p:spPr>
          <a:xfrm>
            <a:off x="1313014" y="3630692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Benefits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582106-A084-1DCB-B861-B0895C9EC311}"/>
              </a:ext>
            </a:extLst>
          </p:cNvPr>
          <p:cNvSpPr/>
          <p:nvPr/>
        </p:nvSpPr>
        <p:spPr>
          <a:xfrm>
            <a:off x="1593667" y="413518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>
                <a:solidFill>
                  <a:schemeClr val="bg1"/>
                </a:solidFill>
                <a:latin typeface="Trebuchet MS" panose="020B0703020202090204" pitchFamily="34" charset="0"/>
              </a:rPr>
              <a:t>Consumer</a:t>
            </a:r>
          </a:p>
          <a:p>
            <a:pPr algn="ctr"/>
            <a:r>
              <a:rPr lang="en-US" sz="800">
                <a:solidFill>
                  <a:schemeClr val="bg1"/>
                </a:solidFill>
                <a:latin typeface="Trebuchet MS" panose="020B0703020202090204" pitchFamily="34" charset="0"/>
              </a:rPr>
              <a:t>Queue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A36EA9-1994-34D6-EA5D-87B7DE24EAF9}"/>
              </a:ext>
            </a:extLst>
          </p:cNvPr>
          <p:cNvSpPr/>
          <p:nvPr/>
        </p:nvSpPr>
        <p:spPr>
          <a:xfrm>
            <a:off x="2227420" y="413518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Criminal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Records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5EE2A4-FF1C-BBBA-A6E5-51F52B85289A}"/>
              </a:ext>
            </a:extLst>
          </p:cNvPr>
          <p:cNvSpPr/>
          <p:nvPr/>
        </p:nvSpPr>
        <p:spPr>
          <a:xfrm>
            <a:off x="2861174" y="413518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Employ-</a:t>
            </a:r>
          </a:p>
          <a:p>
            <a:pPr algn="ctr"/>
            <a:r>
              <a:rPr lang="en-US" sz="900" err="1">
                <a:solidFill>
                  <a:schemeClr val="bg1"/>
                </a:solidFill>
                <a:latin typeface="Trebuchet MS" panose="020B0703020202090204" pitchFamily="34" charset="0"/>
              </a:rPr>
              <a:t>ment</a:t>
            </a:r>
            <a:endParaRPr lang="en-US" sz="90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8B4B9A-6B15-5AC7-3996-9293B738C4D3}"/>
              </a:ext>
            </a:extLst>
          </p:cNvPr>
          <p:cNvSpPr/>
          <p:nvPr/>
        </p:nvSpPr>
        <p:spPr>
          <a:xfrm>
            <a:off x="3144100" y="3630692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Immi-</a:t>
            </a:r>
          </a:p>
          <a:p>
            <a:pPr algn="ctr"/>
            <a:r>
              <a:rPr lang="en-US" sz="900" err="1">
                <a:solidFill>
                  <a:schemeClr val="bg1"/>
                </a:solidFill>
                <a:latin typeface="Trebuchet MS" panose="020B0703020202090204" pitchFamily="34" charset="0"/>
              </a:rPr>
              <a:t>gration</a:t>
            </a:r>
            <a:endParaRPr lang="en-US" sz="90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FEEA70-594A-5EB0-F5AD-F23DE6614682}"/>
              </a:ext>
            </a:extLst>
          </p:cNvPr>
          <p:cNvSpPr/>
          <p:nvPr/>
        </p:nvSpPr>
        <p:spPr>
          <a:xfrm>
            <a:off x="3427026" y="312619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ADAPT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622A348-7EA3-2840-C5A6-9114291B7B93}"/>
              </a:ext>
            </a:extLst>
          </p:cNvPr>
          <p:cNvSpPr/>
          <p:nvPr/>
        </p:nvSpPr>
        <p:spPr>
          <a:xfrm>
            <a:off x="3709952" y="2621707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Other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Menu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B66AB1-BD9B-F2F2-5488-689AE87E35CE}"/>
              </a:ext>
            </a:extLst>
          </p:cNvPr>
          <p:cNvSpPr/>
          <p:nvPr/>
        </p:nvSpPr>
        <p:spPr>
          <a:xfrm>
            <a:off x="3992879" y="211721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Main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Menu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0542A0-7469-B40C-2315-B3293EF612E6}"/>
              </a:ext>
            </a:extLst>
          </p:cNvPr>
          <p:cNvSpPr/>
          <p:nvPr/>
        </p:nvSpPr>
        <p:spPr>
          <a:xfrm>
            <a:off x="1680804" y="1713409"/>
            <a:ext cx="1550433" cy="330404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LegalMenu2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CF2EB85-FE57-CD76-63AA-FEB2AA64EC27}"/>
              </a:ext>
            </a:extLst>
          </p:cNvPr>
          <p:cNvCxnSpPr>
            <a:stCxn id="38" idx="2"/>
            <a:endCxn id="24" idx="3"/>
          </p:cNvCxnSpPr>
          <p:nvPr/>
        </p:nvCxnSpPr>
        <p:spPr>
          <a:xfrm flipH="1">
            <a:off x="928255" y="2043813"/>
            <a:ext cx="1527766" cy="30200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38D154D-38D9-950A-E918-C2676CAD228B}"/>
              </a:ext>
            </a:extLst>
          </p:cNvPr>
          <p:cNvCxnSpPr>
            <a:cxnSpLocks/>
            <a:stCxn id="38" idx="2"/>
            <a:endCxn id="25" idx="0"/>
          </p:cNvCxnSpPr>
          <p:nvPr/>
        </p:nvCxnSpPr>
        <p:spPr>
          <a:xfrm flipH="1">
            <a:off x="980308" y="2043813"/>
            <a:ext cx="1475713" cy="577894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24C0E54-DD9C-F969-20F2-A985463D059A}"/>
              </a:ext>
            </a:extLst>
          </p:cNvPr>
          <p:cNvCxnSpPr>
            <a:cxnSpLocks/>
            <a:stCxn id="38" idx="2"/>
            <a:endCxn id="26" idx="0"/>
          </p:cNvCxnSpPr>
          <p:nvPr/>
        </p:nvCxnSpPr>
        <p:spPr>
          <a:xfrm flipH="1">
            <a:off x="1260961" y="2043813"/>
            <a:ext cx="1195060" cy="108238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D40BB16-0A1E-B857-B9AC-8F90EF261C0F}"/>
              </a:ext>
            </a:extLst>
          </p:cNvPr>
          <p:cNvCxnSpPr>
            <a:cxnSpLocks/>
            <a:stCxn id="38" idx="2"/>
            <a:endCxn id="27" idx="0"/>
          </p:cNvCxnSpPr>
          <p:nvPr/>
        </p:nvCxnSpPr>
        <p:spPr>
          <a:xfrm flipH="1">
            <a:off x="1541614" y="2043813"/>
            <a:ext cx="914407" cy="158687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AFC10D3-77DB-A3CE-AC32-748286245F2B}"/>
              </a:ext>
            </a:extLst>
          </p:cNvPr>
          <p:cNvCxnSpPr>
            <a:cxnSpLocks/>
            <a:stCxn id="38" idx="2"/>
            <a:endCxn id="28" idx="0"/>
          </p:cNvCxnSpPr>
          <p:nvPr/>
        </p:nvCxnSpPr>
        <p:spPr>
          <a:xfrm flipH="1">
            <a:off x="1822267" y="2043813"/>
            <a:ext cx="633754" cy="209137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35F8FE0-9F63-58E7-AE29-E2DCD1531078}"/>
              </a:ext>
            </a:extLst>
          </p:cNvPr>
          <p:cNvCxnSpPr>
            <a:stCxn id="38" idx="2"/>
            <a:endCxn id="29" idx="0"/>
          </p:cNvCxnSpPr>
          <p:nvPr/>
        </p:nvCxnSpPr>
        <p:spPr>
          <a:xfrm flipH="1">
            <a:off x="2456020" y="2043813"/>
            <a:ext cx="1" cy="209137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C41AF14-E5E2-FFB5-D4EA-AF50E4228EFE}"/>
              </a:ext>
            </a:extLst>
          </p:cNvPr>
          <p:cNvCxnSpPr>
            <a:stCxn id="38" idx="2"/>
            <a:endCxn id="30" idx="0"/>
          </p:cNvCxnSpPr>
          <p:nvPr/>
        </p:nvCxnSpPr>
        <p:spPr>
          <a:xfrm>
            <a:off x="2456021" y="2043813"/>
            <a:ext cx="633753" cy="209137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F3781F3-35C8-AFC2-6938-AB5320FC6AD2}"/>
              </a:ext>
            </a:extLst>
          </p:cNvPr>
          <p:cNvCxnSpPr>
            <a:stCxn id="38" idx="2"/>
            <a:endCxn id="33" idx="0"/>
          </p:cNvCxnSpPr>
          <p:nvPr/>
        </p:nvCxnSpPr>
        <p:spPr>
          <a:xfrm>
            <a:off x="2456021" y="2043813"/>
            <a:ext cx="916679" cy="158687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9FA69E1-063A-CEEC-D0DC-C9719DCA48E6}"/>
              </a:ext>
            </a:extLst>
          </p:cNvPr>
          <p:cNvCxnSpPr>
            <a:cxnSpLocks/>
            <a:stCxn id="38" idx="2"/>
            <a:endCxn id="34" idx="0"/>
          </p:cNvCxnSpPr>
          <p:nvPr/>
        </p:nvCxnSpPr>
        <p:spPr>
          <a:xfrm>
            <a:off x="2456021" y="2043813"/>
            <a:ext cx="1199605" cy="108238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DD87820-C9A8-20D0-052A-8ED511E9B0E4}"/>
              </a:ext>
            </a:extLst>
          </p:cNvPr>
          <p:cNvCxnSpPr>
            <a:cxnSpLocks/>
            <a:stCxn id="38" idx="2"/>
            <a:endCxn id="35" idx="0"/>
          </p:cNvCxnSpPr>
          <p:nvPr/>
        </p:nvCxnSpPr>
        <p:spPr>
          <a:xfrm>
            <a:off x="2456021" y="2043813"/>
            <a:ext cx="1482531" cy="577894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2C06537-E143-F73E-9CC3-B3FA9B365F49}"/>
              </a:ext>
            </a:extLst>
          </p:cNvPr>
          <p:cNvCxnSpPr>
            <a:stCxn id="38" idx="2"/>
            <a:endCxn id="36" idx="1"/>
          </p:cNvCxnSpPr>
          <p:nvPr/>
        </p:nvCxnSpPr>
        <p:spPr>
          <a:xfrm>
            <a:off x="2456021" y="2043813"/>
            <a:ext cx="1536858" cy="30200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3E596DC-FC19-F574-7336-A06B768C5333}"/>
              </a:ext>
            </a:extLst>
          </p:cNvPr>
          <p:cNvSpPr txBox="1"/>
          <p:nvPr/>
        </p:nvSpPr>
        <p:spPr>
          <a:xfrm>
            <a:off x="812407" y="1510382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No/Invalid Input (x2)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6DA612-0075-7820-AF51-21EF1B4E4096}"/>
              </a:ext>
            </a:extLst>
          </p:cNvPr>
          <p:cNvSpPr txBox="1"/>
          <p:nvPr/>
        </p:nvSpPr>
        <p:spPr>
          <a:xfrm>
            <a:off x="1092959" y="2420808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849C43-369F-669D-994B-B0509801DC19}"/>
              </a:ext>
            </a:extLst>
          </p:cNvPr>
          <p:cNvSpPr txBox="1"/>
          <p:nvPr/>
        </p:nvSpPr>
        <p:spPr>
          <a:xfrm>
            <a:off x="1244436" y="2856628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E87CDD-675C-6959-CC50-5906F86E62EB}"/>
              </a:ext>
            </a:extLst>
          </p:cNvPr>
          <p:cNvSpPr txBox="1"/>
          <p:nvPr/>
        </p:nvSpPr>
        <p:spPr>
          <a:xfrm>
            <a:off x="1406400" y="3228911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0874D6-BAC0-49D6-CF7E-0EADAE3FC0DD}"/>
              </a:ext>
            </a:extLst>
          </p:cNvPr>
          <p:cNvSpPr txBox="1"/>
          <p:nvPr/>
        </p:nvSpPr>
        <p:spPr>
          <a:xfrm>
            <a:off x="1585264" y="3744665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74BBC1-32C9-70E9-4E67-79AA8B3E00C7}"/>
              </a:ext>
            </a:extLst>
          </p:cNvPr>
          <p:cNvSpPr txBox="1"/>
          <p:nvPr/>
        </p:nvSpPr>
        <p:spPr>
          <a:xfrm>
            <a:off x="1985177" y="3755816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196631-7A93-DCA4-4C0F-455248B42AC5}"/>
              </a:ext>
            </a:extLst>
          </p:cNvPr>
          <p:cNvSpPr txBox="1"/>
          <p:nvPr/>
        </p:nvSpPr>
        <p:spPr>
          <a:xfrm>
            <a:off x="2508074" y="3744665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945E8D3-02D4-A79A-5C15-425809E6C720}"/>
              </a:ext>
            </a:extLst>
          </p:cNvPr>
          <p:cNvSpPr txBox="1"/>
          <p:nvPr/>
        </p:nvSpPr>
        <p:spPr>
          <a:xfrm>
            <a:off x="2684620" y="3182779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ED2DEF-C5F3-AA3F-217E-809BD6F5041B}"/>
              </a:ext>
            </a:extLst>
          </p:cNvPr>
          <p:cNvSpPr txBox="1"/>
          <p:nvPr/>
        </p:nvSpPr>
        <p:spPr>
          <a:xfrm>
            <a:off x="2894037" y="2801396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607E6A6-DE52-B312-43C8-924E03863541}"/>
              </a:ext>
            </a:extLst>
          </p:cNvPr>
          <p:cNvSpPr txBox="1"/>
          <p:nvPr/>
        </p:nvSpPr>
        <p:spPr>
          <a:xfrm>
            <a:off x="3103148" y="2458112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10</a:t>
            </a: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A5A40084-BC62-3CF4-E381-8D38F877A8BA}"/>
              </a:ext>
            </a:extLst>
          </p:cNvPr>
          <p:cNvCxnSpPr>
            <a:cxnSpLocks/>
            <a:stCxn id="38" idx="2"/>
            <a:endCxn id="38" idx="1"/>
          </p:cNvCxnSpPr>
          <p:nvPr/>
        </p:nvCxnSpPr>
        <p:spPr>
          <a:xfrm rot="5400000" flipH="1">
            <a:off x="1985812" y="1573604"/>
            <a:ext cx="165202" cy="775217"/>
          </a:xfrm>
          <a:prstGeom prst="bentConnector4">
            <a:avLst>
              <a:gd name="adj1" fmla="val 23623"/>
              <a:gd name="adj2" fmla="val 231620"/>
            </a:avLst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9AD8E694-8EE1-74A4-77B7-D9F94AD20841}"/>
              </a:ext>
            </a:extLst>
          </p:cNvPr>
          <p:cNvSpPr txBox="1"/>
          <p:nvPr/>
        </p:nvSpPr>
        <p:spPr>
          <a:xfrm>
            <a:off x="783488" y="2084001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43AE16-A768-A01D-D663-9CB8E5A540C0}"/>
              </a:ext>
            </a:extLst>
          </p:cNvPr>
          <p:cNvSpPr txBox="1"/>
          <p:nvPr/>
        </p:nvSpPr>
        <p:spPr>
          <a:xfrm>
            <a:off x="3215557" y="1869867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3</a:t>
            </a:r>
            <a:r>
              <a:rPr lang="en-US" sz="1000" b="1" baseline="30000" dirty="0">
                <a:latin typeface="Trebuchet MS" panose="020B0703020202090204" pitchFamily="34" charset="0"/>
              </a:rPr>
              <a:t>rd</a:t>
            </a:r>
            <a:r>
              <a:rPr lang="en-US" sz="1000" b="1" dirty="0">
                <a:latin typeface="Trebuchet MS" panose="020B0703020202090204" pitchFamily="34" charset="0"/>
              </a:rPr>
              <a:t> Invalid Input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6F52037-D955-D178-E581-DF23C85FED5E}"/>
              </a:ext>
            </a:extLst>
          </p:cNvPr>
          <p:cNvSpPr/>
          <p:nvPr/>
        </p:nvSpPr>
        <p:spPr>
          <a:xfrm>
            <a:off x="5917523" y="1713409"/>
            <a:ext cx="1550433" cy="330404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LegalMenu2</a:t>
            </a:r>
          </a:p>
        </p:txBody>
      </p:sp>
      <p:cxnSp>
        <p:nvCxnSpPr>
          <p:cNvPr id="103" name="Elbow Connector 102">
            <a:extLst>
              <a:ext uri="{FF2B5EF4-FFF2-40B4-BE49-F238E27FC236}">
                <a16:creationId xmlns:a16="http://schemas.microsoft.com/office/drawing/2014/main" id="{A8B95AB7-2C75-ED8C-E1A4-113E4B7C3C2F}"/>
              </a:ext>
            </a:extLst>
          </p:cNvPr>
          <p:cNvCxnSpPr>
            <a:cxnSpLocks/>
            <a:stCxn id="102" idx="2"/>
            <a:endCxn id="102" idx="1"/>
          </p:cNvCxnSpPr>
          <p:nvPr/>
        </p:nvCxnSpPr>
        <p:spPr>
          <a:xfrm rot="5400000" flipH="1">
            <a:off x="6222531" y="1573604"/>
            <a:ext cx="165202" cy="775217"/>
          </a:xfrm>
          <a:prstGeom prst="bentConnector4">
            <a:avLst>
              <a:gd name="adj1" fmla="val 31365"/>
              <a:gd name="adj2" fmla="val 228570"/>
            </a:avLst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ADB9D86-5950-8E5D-8112-89BFF82BB173}"/>
              </a:ext>
            </a:extLst>
          </p:cNvPr>
          <p:cNvSpPr txBox="1"/>
          <p:nvPr/>
        </p:nvSpPr>
        <p:spPr>
          <a:xfrm>
            <a:off x="5045712" y="1510382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No/Invalid Input (x2)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D1B1C52-023A-75F9-39D1-545D6999A00B}"/>
              </a:ext>
            </a:extLst>
          </p:cNvPr>
          <p:cNvCxnSpPr>
            <a:cxnSpLocks/>
            <a:stCxn id="102" idx="2"/>
            <a:endCxn id="110" idx="0"/>
          </p:cNvCxnSpPr>
          <p:nvPr/>
        </p:nvCxnSpPr>
        <p:spPr>
          <a:xfrm flipH="1">
            <a:off x="4927281" y="2043813"/>
            <a:ext cx="1765459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D09D5E-923A-4D02-2D67-D85E6281C9DC}"/>
              </a:ext>
            </a:extLst>
          </p:cNvPr>
          <p:cNvCxnSpPr>
            <a:stCxn id="102" idx="2"/>
            <a:endCxn id="111" idx="0"/>
          </p:cNvCxnSpPr>
          <p:nvPr/>
        </p:nvCxnSpPr>
        <p:spPr>
          <a:xfrm flipH="1">
            <a:off x="5515767" y="2043813"/>
            <a:ext cx="1176973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42BE11B-3A6D-B2D2-0BF2-F9464213B19F}"/>
              </a:ext>
            </a:extLst>
          </p:cNvPr>
          <p:cNvCxnSpPr>
            <a:stCxn id="102" idx="2"/>
            <a:endCxn id="112" idx="0"/>
          </p:cNvCxnSpPr>
          <p:nvPr/>
        </p:nvCxnSpPr>
        <p:spPr>
          <a:xfrm flipH="1">
            <a:off x="6104253" y="2043813"/>
            <a:ext cx="588487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DE185883-1005-5BE6-5DDE-831AEA49AC8D}"/>
              </a:ext>
            </a:extLst>
          </p:cNvPr>
          <p:cNvCxnSpPr>
            <a:stCxn id="102" idx="2"/>
            <a:endCxn id="113" idx="0"/>
          </p:cNvCxnSpPr>
          <p:nvPr/>
        </p:nvCxnSpPr>
        <p:spPr>
          <a:xfrm flipH="1">
            <a:off x="6692739" y="2043813"/>
            <a:ext cx="1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9CB77BD-441B-02CF-C421-3491454B8594}"/>
              </a:ext>
            </a:extLst>
          </p:cNvPr>
          <p:cNvCxnSpPr>
            <a:stCxn id="102" idx="2"/>
            <a:endCxn id="114" idx="0"/>
          </p:cNvCxnSpPr>
          <p:nvPr/>
        </p:nvCxnSpPr>
        <p:spPr>
          <a:xfrm>
            <a:off x="6692740" y="2043813"/>
            <a:ext cx="588485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D464715-7ED1-FC51-2867-DBD17660DECA}"/>
              </a:ext>
            </a:extLst>
          </p:cNvPr>
          <p:cNvCxnSpPr>
            <a:stCxn id="102" idx="2"/>
            <a:endCxn id="115" idx="0"/>
          </p:cNvCxnSpPr>
          <p:nvPr/>
        </p:nvCxnSpPr>
        <p:spPr>
          <a:xfrm>
            <a:off x="6692740" y="2043813"/>
            <a:ext cx="1176971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F6532BF-5092-85B8-D65A-B180E0526AB7}"/>
              </a:ext>
            </a:extLst>
          </p:cNvPr>
          <p:cNvSpPr/>
          <p:nvPr/>
        </p:nvSpPr>
        <p:spPr>
          <a:xfrm>
            <a:off x="4698681" y="361834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Criminal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Records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572A982-23B3-ACD2-6BBB-BED11DE2DCD6}"/>
              </a:ext>
            </a:extLst>
          </p:cNvPr>
          <p:cNvSpPr/>
          <p:nvPr/>
        </p:nvSpPr>
        <p:spPr>
          <a:xfrm>
            <a:off x="5581411" y="361834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HIV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B65C200-4FFB-ACAF-930E-8AF6BB420DB7}"/>
              </a:ext>
            </a:extLst>
          </p:cNvPr>
          <p:cNvSpPr/>
          <p:nvPr/>
        </p:nvSpPr>
        <p:spPr>
          <a:xfrm>
            <a:off x="6464141" y="361834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Consumer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Queue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78DE26F-D2E7-0C97-80A6-1EF14BEC2616}"/>
              </a:ext>
            </a:extLst>
          </p:cNvPr>
          <p:cNvSpPr/>
          <p:nvPr/>
        </p:nvSpPr>
        <p:spPr>
          <a:xfrm>
            <a:off x="7346871" y="361834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ADAPT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BE7995F-06E2-D153-F072-B2B5CB4EEBCB}"/>
              </a:ext>
            </a:extLst>
          </p:cNvPr>
          <p:cNvSpPr/>
          <p:nvPr/>
        </p:nvSpPr>
        <p:spPr>
          <a:xfrm>
            <a:off x="8229599" y="3618345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Other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Legal2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A09B7FF-2C12-776B-963D-1EA6E7A0913F}"/>
              </a:ext>
            </a:extLst>
          </p:cNvPr>
          <p:cNvSpPr/>
          <p:nvPr/>
        </p:nvSpPr>
        <p:spPr>
          <a:xfrm>
            <a:off x="4698681" y="260247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Family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A7711B8-1F4F-8741-2617-99B2BFA130E5}"/>
              </a:ext>
            </a:extLst>
          </p:cNvPr>
          <p:cNvSpPr/>
          <p:nvPr/>
        </p:nvSpPr>
        <p:spPr>
          <a:xfrm>
            <a:off x="5287167" y="260247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Housing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5771C9C-A605-4EA6-7A62-0943AC74F8D3}"/>
              </a:ext>
            </a:extLst>
          </p:cNvPr>
          <p:cNvSpPr/>
          <p:nvPr/>
        </p:nvSpPr>
        <p:spPr>
          <a:xfrm>
            <a:off x="5875653" y="260247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Benefits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5800179-DA96-0C5B-9062-018369AB54ED}"/>
              </a:ext>
            </a:extLst>
          </p:cNvPr>
          <p:cNvSpPr/>
          <p:nvPr/>
        </p:nvSpPr>
        <p:spPr>
          <a:xfrm>
            <a:off x="6464139" y="260247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Employ-</a:t>
            </a:r>
          </a:p>
          <a:p>
            <a:pPr algn="ctr"/>
            <a:r>
              <a:rPr lang="en-US" sz="900" err="1">
                <a:solidFill>
                  <a:schemeClr val="bg1"/>
                </a:solidFill>
                <a:latin typeface="Trebuchet MS" panose="020B0703020202090204" pitchFamily="34" charset="0"/>
              </a:rPr>
              <a:t>ment</a:t>
            </a:r>
            <a:endParaRPr lang="en-US" sz="90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8713807-7AAA-1289-F194-03C9D9AFDB74}"/>
              </a:ext>
            </a:extLst>
          </p:cNvPr>
          <p:cNvSpPr/>
          <p:nvPr/>
        </p:nvSpPr>
        <p:spPr>
          <a:xfrm>
            <a:off x="7052625" y="260247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Immi-</a:t>
            </a:r>
          </a:p>
          <a:p>
            <a:pPr algn="ctr"/>
            <a:r>
              <a:rPr lang="en-US" sz="900" err="1">
                <a:solidFill>
                  <a:schemeClr val="bg1"/>
                </a:solidFill>
                <a:latin typeface="Trebuchet MS" panose="020B0703020202090204" pitchFamily="34" charset="0"/>
              </a:rPr>
              <a:t>gration</a:t>
            </a:r>
            <a:endParaRPr lang="en-US" sz="90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5DE7DB8-FE47-EAE5-80EC-44D63707BFCA}"/>
              </a:ext>
            </a:extLst>
          </p:cNvPr>
          <p:cNvSpPr/>
          <p:nvPr/>
        </p:nvSpPr>
        <p:spPr>
          <a:xfrm>
            <a:off x="7641111" y="260247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Other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Legal1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448F3E2-3DF1-8E12-1AC5-9FAACEA52BDE}"/>
              </a:ext>
            </a:extLst>
          </p:cNvPr>
          <p:cNvSpPr/>
          <p:nvPr/>
        </p:nvSpPr>
        <p:spPr>
          <a:xfrm>
            <a:off x="8229599" y="2602479"/>
            <a:ext cx="4572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Main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Trebuchet MS" panose="020B0703020202090204" pitchFamily="34" charset="0"/>
              </a:rPr>
              <a:t>Menu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4155D27-B32A-BDF5-0D74-5171A0A5BADA}"/>
              </a:ext>
            </a:extLst>
          </p:cNvPr>
          <p:cNvCxnSpPr>
            <a:stCxn id="102" idx="2"/>
            <a:endCxn id="149" idx="0"/>
          </p:cNvCxnSpPr>
          <p:nvPr/>
        </p:nvCxnSpPr>
        <p:spPr>
          <a:xfrm>
            <a:off x="6692740" y="2043813"/>
            <a:ext cx="1765459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Elbow Connector 152">
            <a:extLst>
              <a:ext uri="{FF2B5EF4-FFF2-40B4-BE49-F238E27FC236}">
                <a16:creationId xmlns:a16="http://schemas.microsoft.com/office/drawing/2014/main" id="{985CCCE0-E197-C967-F487-2EA1B49A75E4}"/>
              </a:ext>
            </a:extLst>
          </p:cNvPr>
          <p:cNvCxnSpPr>
            <a:stCxn id="115" idx="0"/>
            <a:endCxn id="102" idx="3"/>
          </p:cNvCxnSpPr>
          <p:nvPr/>
        </p:nvCxnSpPr>
        <p:spPr>
          <a:xfrm rot="16200000" flipV="1">
            <a:off x="7306900" y="2039667"/>
            <a:ext cx="723868" cy="401755"/>
          </a:xfrm>
          <a:prstGeom prst="bentConnector2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C6818528-7874-2669-B09B-F85FD09767DA}"/>
              </a:ext>
            </a:extLst>
          </p:cNvPr>
          <p:cNvSpPr txBox="1"/>
          <p:nvPr/>
        </p:nvSpPr>
        <p:spPr>
          <a:xfrm>
            <a:off x="7958829" y="2161331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3</a:t>
            </a:r>
            <a:r>
              <a:rPr lang="en-US" sz="1000" b="1" baseline="30000">
                <a:latin typeface="Trebuchet MS" panose="020B0703020202090204" pitchFamily="34" charset="0"/>
              </a:rPr>
              <a:t>rd</a:t>
            </a:r>
            <a:r>
              <a:rPr lang="en-US" sz="1000" b="1">
                <a:latin typeface="Trebuchet MS" panose="020B0703020202090204" pitchFamily="34" charset="0"/>
              </a:rPr>
              <a:t> Invalid Input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A2D7BE88-4C5D-CE3D-2476-482FBCD1DA62}"/>
              </a:ext>
            </a:extLst>
          </p:cNvPr>
          <p:cNvSpPr txBox="1"/>
          <p:nvPr/>
        </p:nvSpPr>
        <p:spPr>
          <a:xfrm>
            <a:off x="7436597" y="1510382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3</a:t>
            </a:r>
            <a:r>
              <a:rPr lang="en-US" sz="1000" b="1" baseline="30000">
                <a:latin typeface="Trebuchet MS" panose="020B0703020202090204" pitchFamily="34" charset="0"/>
              </a:rPr>
              <a:t>rd</a:t>
            </a:r>
            <a:r>
              <a:rPr lang="en-US" sz="1000" b="1">
                <a:latin typeface="Trebuchet MS" panose="020B0703020202090204" pitchFamily="34" charset="0"/>
              </a:rPr>
              <a:t> Invalid Input</a:t>
            </a:r>
          </a:p>
        </p:txBody>
      </p: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BC6532EA-DD5E-6EDE-946F-FB80CC49FE1F}"/>
              </a:ext>
            </a:extLst>
          </p:cNvPr>
          <p:cNvCxnSpPr>
            <a:stCxn id="115" idx="2"/>
            <a:endCxn id="115" idx="3"/>
          </p:cNvCxnSpPr>
          <p:nvPr/>
        </p:nvCxnSpPr>
        <p:spPr>
          <a:xfrm rot="5400000" flipH="1" flipV="1">
            <a:off x="7869711" y="2831079"/>
            <a:ext cx="228600" cy="228600"/>
          </a:xfrm>
          <a:prstGeom prst="bentConnector4">
            <a:avLst>
              <a:gd name="adj1" fmla="val -100000"/>
              <a:gd name="adj2" fmla="val 200000"/>
            </a:avLst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96DA7C5E-7EB5-69BF-4580-09A9EF256DD5}"/>
              </a:ext>
            </a:extLst>
          </p:cNvPr>
          <p:cNvSpPr txBox="1"/>
          <p:nvPr/>
        </p:nvSpPr>
        <p:spPr>
          <a:xfrm>
            <a:off x="8195858" y="3059781"/>
            <a:ext cx="79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Trebuchet MS" panose="020B0703020202090204" pitchFamily="34" charset="0"/>
              </a:rPr>
              <a:t>No/Invalid Input (x2)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F95D626-8D09-3954-B4C7-DD9239A4CA62}"/>
              </a:ext>
            </a:extLst>
          </p:cNvPr>
          <p:cNvCxnSpPr>
            <a:stCxn id="115" idx="2"/>
            <a:endCxn id="135" idx="0"/>
          </p:cNvCxnSpPr>
          <p:nvPr/>
        </p:nvCxnSpPr>
        <p:spPr>
          <a:xfrm flipH="1">
            <a:off x="4927281" y="3059679"/>
            <a:ext cx="2942430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74A6A43E-A4B4-2D17-5916-47873B6EEAEE}"/>
              </a:ext>
            </a:extLst>
          </p:cNvPr>
          <p:cNvCxnSpPr>
            <a:stCxn id="115" idx="2"/>
            <a:endCxn id="136" idx="0"/>
          </p:cNvCxnSpPr>
          <p:nvPr/>
        </p:nvCxnSpPr>
        <p:spPr>
          <a:xfrm flipH="1">
            <a:off x="5810011" y="3059679"/>
            <a:ext cx="2059700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A99C10A0-9697-0217-BFE9-5695634F98FA}"/>
              </a:ext>
            </a:extLst>
          </p:cNvPr>
          <p:cNvCxnSpPr>
            <a:stCxn id="115" idx="2"/>
            <a:endCxn id="138" idx="0"/>
          </p:cNvCxnSpPr>
          <p:nvPr/>
        </p:nvCxnSpPr>
        <p:spPr>
          <a:xfrm flipH="1">
            <a:off x="7575471" y="3059679"/>
            <a:ext cx="294240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5B8247DE-31E4-0584-53BB-290EA5DDF2BD}"/>
              </a:ext>
            </a:extLst>
          </p:cNvPr>
          <p:cNvCxnSpPr>
            <a:stCxn id="115" idx="2"/>
            <a:endCxn id="137" idx="0"/>
          </p:cNvCxnSpPr>
          <p:nvPr/>
        </p:nvCxnSpPr>
        <p:spPr>
          <a:xfrm flipH="1">
            <a:off x="6692741" y="3059679"/>
            <a:ext cx="1176970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540DA19C-78C1-C658-3EF7-F1DED3497DF7}"/>
              </a:ext>
            </a:extLst>
          </p:cNvPr>
          <p:cNvCxnSpPr>
            <a:stCxn id="115" idx="2"/>
            <a:endCxn id="139" idx="0"/>
          </p:cNvCxnSpPr>
          <p:nvPr/>
        </p:nvCxnSpPr>
        <p:spPr>
          <a:xfrm>
            <a:off x="7869711" y="3059679"/>
            <a:ext cx="588488" cy="558666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33660D0F-9DD6-B98F-436D-0D366D012E4A}"/>
              </a:ext>
            </a:extLst>
          </p:cNvPr>
          <p:cNvSpPr txBox="1"/>
          <p:nvPr/>
        </p:nvSpPr>
        <p:spPr>
          <a:xfrm>
            <a:off x="4933115" y="2369336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EEB01E9-A638-D1AB-505D-B69CD6E1FC8A}"/>
              </a:ext>
            </a:extLst>
          </p:cNvPr>
          <p:cNvSpPr txBox="1"/>
          <p:nvPr/>
        </p:nvSpPr>
        <p:spPr>
          <a:xfrm>
            <a:off x="5675421" y="2453615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2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C749B99-62D0-1EC2-FEF4-AE634E446100}"/>
              </a:ext>
            </a:extLst>
          </p:cNvPr>
          <p:cNvSpPr txBox="1"/>
          <p:nvPr/>
        </p:nvSpPr>
        <p:spPr>
          <a:xfrm>
            <a:off x="6203161" y="2426183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3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D356698-E27A-F63F-A729-DC17280A9A31}"/>
              </a:ext>
            </a:extLst>
          </p:cNvPr>
          <p:cNvSpPr txBox="1"/>
          <p:nvPr/>
        </p:nvSpPr>
        <p:spPr>
          <a:xfrm>
            <a:off x="6643085" y="2362175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4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540E300-7B2A-C022-9175-C437CA636FE9}"/>
              </a:ext>
            </a:extLst>
          </p:cNvPr>
          <p:cNvSpPr txBox="1"/>
          <p:nvPr/>
        </p:nvSpPr>
        <p:spPr>
          <a:xfrm>
            <a:off x="6977165" y="2417039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5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5EE8D75-F282-8814-1366-B5103A8A209F}"/>
              </a:ext>
            </a:extLst>
          </p:cNvPr>
          <p:cNvSpPr txBox="1"/>
          <p:nvPr/>
        </p:nvSpPr>
        <p:spPr>
          <a:xfrm>
            <a:off x="7450868" y="2426183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6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EB5C1B-FB20-9673-34E2-D1D70F939FAC}"/>
              </a:ext>
            </a:extLst>
          </p:cNvPr>
          <p:cNvSpPr txBox="1"/>
          <p:nvPr/>
        </p:nvSpPr>
        <p:spPr>
          <a:xfrm>
            <a:off x="4942259" y="3351690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1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6E89ECB-50F4-E495-6DA2-D0EEF5962AE9}"/>
              </a:ext>
            </a:extLst>
          </p:cNvPr>
          <p:cNvSpPr txBox="1"/>
          <p:nvPr/>
        </p:nvSpPr>
        <p:spPr>
          <a:xfrm>
            <a:off x="6029699" y="3473246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2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2AFED24-8515-82BB-FF8D-8385D35F7C1A}"/>
              </a:ext>
            </a:extLst>
          </p:cNvPr>
          <p:cNvSpPr txBox="1"/>
          <p:nvPr/>
        </p:nvSpPr>
        <p:spPr>
          <a:xfrm>
            <a:off x="6880255" y="3438011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3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1BACB30-FE6B-1B5B-101D-1975D0CE3216}"/>
              </a:ext>
            </a:extLst>
          </p:cNvPr>
          <p:cNvSpPr txBox="1"/>
          <p:nvPr/>
        </p:nvSpPr>
        <p:spPr>
          <a:xfrm>
            <a:off x="7626485" y="3364922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4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664CCFC4-54D9-4A0F-E5C8-AFF85E4B93A7}"/>
              </a:ext>
            </a:extLst>
          </p:cNvPr>
          <p:cNvSpPr txBox="1"/>
          <p:nvPr/>
        </p:nvSpPr>
        <p:spPr>
          <a:xfrm>
            <a:off x="8370130" y="3359048"/>
            <a:ext cx="2222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rebuchet MS" panose="020B070302020209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861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63" grpId="0"/>
      <p:bldP spid="64" grpId="0"/>
      <p:bldP spid="65" grpId="0"/>
      <p:bldP spid="66" grpId="0"/>
      <p:bldP spid="74" grpId="0"/>
      <p:bldP spid="75" grpId="0"/>
      <p:bldP spid="76" grpId="0"/>
      <p:bldP spid="77" grpId="0"/>
      <p:bldP spid="78" grpId="0"/>
      <p:bldP spid="79" grpId="0"/>
      <p:bldP spid="88" grpId="0"/>
      <p:bldP spid="89" grpId="0"/>
      <p:bldP spid="102" grpId="0" animBg="1"/>
      <p:bldP spid="108" grpId="0"/>
      <p:bldP spid="135" grpId="0" animBg="1"/>
      <p:bldP spid="136" grpId="0" animBg="1"/>
      <p:bldP spid="137" grpId="0" animBg="1"/>
      <p:bldP spid="138" grpId="0" animBg="1"/>
      <p:bldP spid="13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49" grpId="0" animBg="1"/>
      <p:bldP spid="154" grpId="0"/>
      <p:bldP spid="155" grpId="0"/>
      <p:bldP spid="161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2" grpId="0"/>
      <p:bldP spid="183" grpId="0"/>
      <p:bldP spid="184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A1AF-A48A-0C1D-7C73-00A59D05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LEGAL MENU REDESIGN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C87D6-B695-C24D-A6EF-A2F78F1BD38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622083"/>
            <a:ext cx="8229600" cy="545006"/>
          </a:xfrm>
        </p:spPr>
        <p:txBody>
          <a:bodyPr/>
          <a:lstStyle/>
          <a:p>
            <a:r>
              <a:rPr lang="en-US"/>
              <a:t>A substantial number of callers take over 2 minutes before making a selection, which can be reduced significantly via the proposed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4F317-DD28-4B2E-7AA5-CFE08C673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C6A4DF-4D3B-BC45-80ED-C08AFE7CDDB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Sources: CAR Data</a:t>
            </a:r>
          </a:p>
        </p:txBody>
      </p:sp>
      <p:sp>
        <p:nvSpPr>
          <p:cNvPr id="7" name="Google Shape;90;p2">
            <a:extLst>
              <a:ext uri="{FF2B5EF4-FFF2-40B4-BE49-F238E27FC236}">
                <a16:creationId xmlns:a16="http://schemas.microsoft.com/office/drawing/2014/main" id="{466BD3AB-ABE8-6A8C-B3E1-28E146D5990F}"/>
              </a:ext>
            </a:extLst>
          </p:cNvPr>
          <p:cNvSpPr/>
          <p:nvPr/>
        </p:nvSpPr>
        <p:spPr>
          <a:xfrm>
            <a:off x="461961" y="1284083"/>
            <a:ext cx="3988118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Seconds Taken Old Flow</a:t>
            </a:r>
            <a:endParaRPr lang="en-US"/>
          </a:p>
        </p:txBody>
      </p:sp>
      <p:sp>
        <p:nvSpPr>
          <p:cNvPr id="8" name="Google Shape;90;p2">
            <a:extLst>
              <a:ext uri="{FF2B5EF4-FFF2-40B4-BE49-F238E27FC236}">
                <a16:creationId xmlns:a16="http://schemas.microsoft.com/office/drawing/2014/main" id="{CA921AA8-DFB6-E843-0FF2-B8A8A2D41707}"/>
              </a:ext>
            </a:extLst>
          </p:cNvPr>
          <p:cNvSpPr/>
          <p:nvPr/>
        </p:nvSpPr>
        <p:spPr>
          <a:xfrm>
            <a:off x="4698682" y="1284083"/>
            <a:ext cx="3988118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Estimated Seconds Taken New Flow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71332C-D5A6-B2F8-9938-26C0FC25E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1608780"/>
            <a:ext cx="3994075" cy="275017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01ED41-D449-81C6-282A-A9B4974DCE8D}"/>
              </a:ext>
            </a:extLst>
          </p:cNvPr>
          <p:cNvSpPr/>
          <p:nvPr/>
        </p:nvSpPr>
        <p:spPr>
          <a:xfrm>
            <a:off x="464341" y="4655079"/>
            <a:ext cx="8222459" cy="1411170"/>
          </a:xfrm>
          <a:prstGeom prst="rect">
            <a:avLst/>
          </a:prstGeom>
          <a:ln w="19050">
            <a:solidFill>
              <a:srgbClr val="00345B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The new proposed menu is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53 seconds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shorter. So, instead of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13.9%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of callers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listening to the menu &gt;1 times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, this will be reduced to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5%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given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menu simplicity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(assuming this is constant across issue type, this will save an average of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13.6 seconds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)</a:t>
            </a:r>
            <a:endParaRPr lang="en-US" sz="1100" b="1" dirty="0">
              <a:solidFill>
                <a:schemeClr val="tx1"/>
              </a:solidFill>
              <a:latin typeface="Trebuchet MS"/>
              <a:sym typeface="Trebuchet MS"/>
            </a:endParaRP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Since the </a:t>
            </a:r>
            <a:r>
              <a:rPr lang="en-US" sz="1100" b="1" dirty="0"/>
              <a:t>most frequently selected categories</a:t>
            </a:r>
            <a:r>
              <a:rPr lang="en-US" sz="1100" dirty="0"/>
              <a:t> are asked </a:t>
            </a:r>
            <a:r>
              <a:rPr lang="en-US" sz="1100" b="1" dirty="0"/>
              <a:t>first,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95%*</a:t>
            </a:r>
            <a:r>
              <a:rPr lang="en-US" sz="1100" b="1" dirty="0"/>
              <a:t>65%=61.8%</a:t>
            </a:r>
            <a:r>
              <a:rPr lang="en-US" sz="1100" dirty="0"/>
              <a:t> of callers who fall into the main 5 categories &amp; </a:t>
            </a:r>
            <a:r>
              <a:rPr lang="en-US" sz="1100" b="1" dirty="0"/>
              <a:t>don’t listen</a:t>
            </a:r>
            <a:r>
              <a:rPr lang="en-US" sz="1100" dirty="0"/>
              <a:t> to the menu &gt;once will reach their selections an average of </a:t>
            </a:r>
            <a:r>
              <a:rPr lang="en-US" sz="1100" b="1" dirty="0"/>
              <a:t>20 seconds quicker </a:t>
            </a:r>
            <a:r>
              <a:rPr lang="en-US" sz="1100" dirty="0"/>
              <a:t>(Saving an avg of </a:t>
            </a:r>
            <a:r>
              <a:rPr lang="en-US" sz="1100" b="1" dirty="0"/>
              <a:t>12.4s</a:t>
            </a:r>
            <a:r>
              <a:rPr lang="en-US" sz="1100" dirty="0"/>
              <a:t>)</a:t>
            </a:r>
            <a:endParaRPr lang="en-US" sz="1100" b="1" dirty="0"/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/>
              <a:t>The remaining </a:t>
            </a:r>
            <a:r>
              <a:rPr lang="en-US" sz="1100" b="1" dirty="0"/>
              <a:t>95%*35%=33.3% </a:t>
            </a:r>
            <a:r>
              <a:rPr lang="en-US" sz="1100" dirty="0"/>
              <a:t>of callers who will go to </a:t>
            </a:r>
            <a:r>
              <a:rPr lang="en-US" sz="1100" b="1" dirty="0"/>
              <a:t>OtherLegal1 </a:t>
            </a:r>
            <a:r>
              <a:rPr lang="en-US" sz="1100" dirty="0"/>
              <a:t>without option repetition will save </a:t>
            </a:r>
            <a:r>
              <a:rPr lang="en-US" sz="1100" b="1" dirty="0"/>
              <a:t>0s </a:t>
            </a:r>
            <a:r>
              <a:rPr lang="en-US" sz="1100" dirty="0"/>
              <a:t>(as the </a:t>
            </a:r>
            <a:r>
              <a:rPr lang="en-US" sz="1100" b="1" dirty="0"/>
              <a:t>extra time spent selecting </a:t>
            </a:r>
            <a:r>
              <a:rPr lang="en-US" sz="1100" dirty="0"/>
              <a:t>an </a:t>
            </a:r>
            <a:r>
              <a:rPr lang="en-US" sz="1100" b="1" dirty="0"/>
              <a:t>extra node </a:t>
            </a:r>
            <a:r>
              <a:rPr lang="en-US" sz="1100" dirty="0"/>
              <a:t>will </a:t>
            </a:r>
            <a:r>
              <a:rPr lang="en-US" sz="1100" b="1" dirty="0"/>
              <a:t>balance out </a:t>
            </a:r>
            <a:r>
              <a:rPr lang="en-US" sz="1100" dirty="0"/>
              <a:t>the saved time from the </a:t>
            </a:r>
            <a:r>
              <a:rPr lang="en-US" sz="1100" b="1" dirty="0"/>
              <a:t>menu prioritizing highly-selected options</a:t>
            </a:r>
            <a:r>
              <a:rPr lang="en-US" sz="1100" dirty="0"/>
              <a:t>)</a:t>
            </a: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/>
              <a:t>So, the </a:t>
            </a:r>
            <a:r>
              <a:rPr lang="en-US" sz="1100" b="1" dirty="0"/>
              <a:t>overall average saved time across all callers </a:t>
            </a:r>
            <a:r>
              <a:rPr lang="en-US" sz="1100" dirty="0"/>
              <a:t>will be </a:t>
            </a:r>
            <a:r>
              <a:rPr lang="en-US" sz="1100" b="1" dirty="0"/>
              <a:t>13.6 seconds + 12.4 seconds = 26 seconds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4BCEA8-FD0F-D90F-2B46-81748CD35E7A}"/>
              </a:ext>
            </a:extLst>
          </p:cNvPr>
          <p:cNvSpPr/>
          <p:nvPr/>
        </p:nvSpPr>
        <p:spPr>
          <a:xfrm>
            <a:off x="471055" y="4634212"/>
            <a:ext cx="8215745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  <a:latin typeface="Trebuchet MS" panose="020B0703020202090204" pitchFamily="34" charset="0"/>
              </a:rPr>
              <a:t>Key Assumptions For Estimated Seconds Taken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5088101-4E94-D5AC-C953-92318538BE41}"/>
              </a:ext>
            </a:extLst>
          </p:cNvPr>
          <p:cNvSpPr/>
          <p:nvPr/>
        </p:nvSpPr>
        <p:spPr>
          <a:xfrm>
            <a:off x="4506455" y="2752912"/>
            <a:ext cx="951480" cy="461914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1DD774-1270-E61D-E2A8-636C01D34426}"/>
              </a:ext>
            </a:extLst>
          </p:cNvPr>
          <p:cNvSpPr/>
          <p:nvPr/>
        </p:nvSpPr>
        <p:spPr>
          <a:xfrm>
            <a:off x="5508354" y="2203185"/>
            <a:ext cx="2368774" cy="1561368"/>
          </a:xfrm>
          <a:prstGeom prst="rect">
            <a:avLst/>
          </a:prstGeom>
          <a:ln w="19050">
            <a:solidFill>
              <a:srgbClr val="00345B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b="1">
                <a:solidFill>
                  <a:schemeClr val="tx1"/>
                </a:solidFill>
                <a:latin typeface="Trebuchet MS"/>
                <a:sym typeface="Trebuchet MS"/>
              </a:rPr>
              <a:t>The average amount of time spent before selecting a final option will drop to 56 seconds, representing a 26-second or 32% improvement per caller!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3C1EB903-2EF5-A991-3288-B5213BF0C3A4}"/>
              </a:ext>
            </a:extLst>
          </p:cNvPr>
          <p:cNvSpPr/>
          <p:nvPr/>
        </p:nvSpPr>
        <p:spPr>
          <a:xfrm rot="16200000">
            <a:off x="1904593" y="2905385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13841369-AC22-2714-7826-90B8EB587918}"/>
              </a:ext>
            </a:extLst>
          </p:cNvPr>
          <p:cNvSpPr/>
          <p:nvPr/>
        </p:nvSpPr>
        <p:spPr>
          <a:xfrm rot="5400000">
            <a:off x="3195304" y="2905385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2C1809-53F5-0CEE-6A4D-DE740A3A7093}"/>
              </a:ext>
            </a:extLst>
          </p:cNvPr>
          <p:cNvSpPr/>
          <p:nvPr/>
        </p:nvSpPr>
        <p:spPr>
          <a:xfrm>
            <a:off x="3657404" y="2564007"/>
            <a:ext cx="704209" cy="461912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sz="900" b="1">
                <a:solidFill>
                  <a:schemeClr val="tx1"/>
                </a:solidFill>
                <a:latin typeface="Trebuchet MS"/>
                <a:sym typeface="Trebuchet MS"/>
              </a:rPr>
              <a:t>Will Stay Roughly The Same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098B5441-6E4E-CB9B-B323-F6B3F573F9BD}"/>
              </a:ext>
            </a:extLst>
          </p:cNvPr>
          <p:cNvSpPr/>
          <p:nvPr/>
        </p:nvSpPr>
        <p:spPr>
          <a:xfrm>
            <a:off x="1904593" y="3662013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2572B279-61BC-A4A2-3E19-EC51EAC25629}"/>
              </a:ext>
            </a:extLst>
          </p:cNvPr>
          <p:cNvSpPr/>
          <p:nvPr/>
        </p:nvSpPr>
        <p:spPr>
          <a:xfrm>
            <a:off x="3195304" y="3662013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EEFDFB-09AC-B4BB-78A3-7A2DFC85F894}"/>
              </a:ext>
            </a:extLst>
          </p:cNvPr>
          <p:cNvSpPr/>
          <p:nvPr/>
        </p:nvSpPr>
        <p:spPr>
          <a:xfrm>
            <a:off x="3456456" y="3744401"/>
            <a:ext cx="743782" cy="353876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sz="900" b="1">
                <a:solidFill>
                  <a:schemeClr val="tx1"/>
                </a:solidFill>
                <a:latin typeface="Trebuchet MS"/>
                <a:sym typeface="Trebuchet MS"/>
              </a:rPr>
              <a:t>Will Decrease</a:t>
            </a: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A95D1C9F-F61D-9006-9CAD-5AD16C373461}"/>
              </a:ext>
            </a:extLst>
          </p:cNvPr>
          <p:cNvSpPr/>
          <p:nvPr/>
        </p:nvSpPr>
        <p:spPr>
          <a:xfrm>
            <a:off x="2536358" y="3421085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54C621-FB22-06BB-9CC4-731E27EEF0D1}"/>
              </a:ext>
            </a:extLst>
          </p:cNvPr>
          <p:cNvSpPr/>
          <p:nvPr/>
        </p:nvSpPr>
        <p:spPr>
          <a:xfrm>
            <a:off x="3899774" y="3334009"/>
            <a:ext cx="743782" cy="353876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sz="900" b="1">
                <a:solidFill>
                  <a:schemeClr val="tx1"/>
                </a:solidFill>
                <a:latin typeface="Trebuchet MS"/>
                <a:sym typeface="Trebuchet MS"/>
              </a:rPr>
              <a:t>Will Decrease</a:t>
            </a:r>
          </a:p>
        </p:txBody>
      </p:sp>
      <p:sp>
        <p:nvSpPr>
          <p:cNvPr id="47" name="Down Arrow 46">
            <a:extLst>
              <a:ext uri="{FF2B5EF4-FFF2-40B4-BE49-F238E27FC236}">
                <a16:creationId xmlns:a16="http://schemas.microsoft.com/office/drawing/2014/main" id="{2905B5D5-F2EC-E7BD-57C0-BE796BA2059B}"/>
              </a:ext>
            </a:extLst>
          </p:cNvPr>
          <p:cNvSpPr/>
          <p:nvPr/>
        </p:nvSpPr>
        <p:spPr>
          <a:xfrm>
            <a:off x="1904593" y="1864600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>
            <a:extLst>
              <a:ext uri="{FF2B5EF4-FFF2-40B4-BE49-F238E27FC236}">
                <a16:creationId xmlns:a16="http://schemas.microsoft.com/office/drawing/2014/main" id="{10ABC192-89DE-B3AD-E41F-49BF9A8ECD65}"/>
              </a:ext>
            </a:extLst>
          </p:cNvPr>
          <p:cNvSpPr/>
          <p:nvPr/>
        </p:nvSpPr>
        <p:spPr>
          <a:xfrm>
            <a:off x="3195304" y="1864600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BF49F2-9A86-D870-7CA6-8762B8D7A843}"/>
              </a:ext>
            </a:extLst>
          </p:cNvPr>
          <p:cNvSpPr/>
          <p:nvPr/>
        </p:nvSpPr>
        <p:spPr>
          <a:xfrm>
            <a:off x="3316323" y="1747101"/>
            <a:ext cx="743782" cy="353876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sz="900" b="1">
                <a:solidFill>
                  <a:schemeClr val="tx1"/>
                </a:solidFill>
                <a:latin typeface="Trebuchet MS"/>
                <a:sym typeface="Trebuchet MS"/>
              </a:rPr>
              <a:t>Will Decrease</a:t>
            </a:r>
          </a:p>
        </p:txBody>
      </p:sp>
    </p:spTree>
    <p:extLst>
      <p:ext uri="{BB962C8B-B14F-4D97-AF65-F5344CB8AC3E}">
        <p14:creationId xmlns:p14="http://schemas.microsoft.com/office/powerpoint/2010/main" val="53853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4" grpId="0" animBg="1"/>
      <p:bldP spid="16" grpId="0" animBg="1"/>
      <p:bldP spid="17" grpId="0"/>
      <p:bldP spid="25" grpId="0" animBg="1"/>
      <p:bldP spid="26" grpId="0" animBg="1"/>
      <p:bldP spid="29" grpId="0"/>
      <p:bldP spid="36" grpId="0" animBg="1"/>
      <p:bldP spid="46" grpId="0"/>
      <p:bldP spid="47" grpId="0" animBg="1"/>
      <p:bldP spid="48" grpId="0" animBg="1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B94D-37E8-80A0-EC99-109A5DD9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LEGAL MENU REDESIGN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C816B-14E4-428C-5F0B-824EEFAA381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We should refine/enhance the verbiage of the </a:t>
            </a:r>
            <a:r>
              <a:rPr lang="en-US" err="1"/>
              <a:t>LegalHIV</a:t>
            </a:r>
            <a:r>
              <a:rPr lang="en-US"/>
              <a:t> Menu Option, as people going to this menu are recycling back at the highest rate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77DCE-7BA7-4499-0DB4-A745B644B9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4D9C5E-F24B-66C3-507F-84121895667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Sources: CAR Data</a:t>
            </a:r>
          </a:p>
        </p:txBody>
      </p:sp>
      <p:sp>
        <p:nvSpPr>
          <p:cNvPr id="7" name="Google Shape;90;p2">
            <a:extLst>
              <a:ext uri="{FF2B5EF4-FFF2-40B4-BE49-F238E27FC236}">
                <a16:creationId xmlns:a16="http://schemas.microsoft.com/office/drawing/2014/main" id="{53DFBC00-CFC5-74C0-2E69-629EBC946640}"/>
              </a:ext>
            </a:extLst>
          </p:cNvPr>
          <p:cNvSpPr/>
          <p:nvPr/>
        </p:nvSpPr>
        <p:spPr>
          <a:xfrm>
            <a:off x="461961" y="1284083"/>
            <a:ext cx="8224839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t" anchorCtr="1">
            <a:noAutofit/>
          </a:bodyPr>
          <a:lstStyle/>
          <a:p>
            <a:pPr algn="ctr"/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Most Common Paths Between Repeated </a:t>
            </a:r>
            <a:r>
              <a:rPr lang="en-US" b="1" err="1">
                <a:solidFill>
                  <a:schemeClr val="lt1"/>
                </a:solidFill>
                <a:latin typeface="Trebuchet MS"/>
                <a:sym typeface="Trebuchet MS"/>
              </a:rPr>
              <a:t>LegalMenu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F10072-682C-5167-0DD0-C27F8C3F0C3E}"/>
              </a:ext>
            </a:extLst>
          </p:cNvPr>
          <p:cNvSpPr/>
          <p:nvPr/>
        </p:nvSpPr>
        <p:spPr>
          <a:xfrm>
            <a:off x="472966" y="5591101"/>
            <a:ext cx="8213833" cy="625424"/>
          </a:xfrm>
          <a:prstGeom prst="rect">
            <a:avLst/>
          </a:prstGeom>
          <a:ln w="19050">
            <a:solidFill>
              <a:srgbClr val="00345B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marL="171450" indent="-171450">
              <a:lnSpc>
                <a:spcPct val="90000"/>
              </a:lnSpc>
              <a:spcBef>
                <a:spcPts val="500"/>
              </a:spcBef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A whopping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19.2%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 of callers who choose to go to the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HIV Menu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 are immediately returned back to the </a:t>
            </a:r>
            <a:r>
              <a:rPr lang="en-US" sz="1100" b="1" dirty="0" err="1">
                <a:solidFill>
                  <a:schemeClr val="tx1"/>
                </a:solidFill>
                <a:latin typeface="Trebuchet MS"/>
                <a:cs typeface="Arial"/>
              </a:rPr>
              <a:t>LegalMenu</a:t>
            </a:r>
            <a:endParaRPr lang="en-US" sz="1100" b="1" dirty="0">
              <a:solidFill>
                <a:schemeClr val="tx1"/>
              </a:solidFill>
              <a:latin typeface="Trebuchet MS"/>
              <a:cs typeface="Arial"/>
            </a:endParaRP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The current verbiage just asks if the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caller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 or a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family member 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is affected by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HIV 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&gt;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Change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 to “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If you are calling about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…”</a:t>
            </a: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We may also refine the verbiage of the </a:t>
            </a:r>
            <a:r>
              <a:rPr lang="en-US" sz="1100" b="1" dirty="0" err="1">
                <a:solidFill>
                  <a:schemeClr val="tx1"/>
                </a:solidFill>
                <a:latin typeface="Trebuchet MS"/>
                <a:cs typeface="Arial"/>
              </a:rPr>
              <a:t>LegalHousing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 Menu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 as a sizeable chunk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cs typeface="Arial"/>
              </a:rPr>
              <a:t>~12%</a:t>
            </a:r>
            <a:r>
              <a:rPr lang="en-US" sz="1100" dirty="0">
                <a:solidFill>
                  <a:schemeClr val="tx1"/>
                </a:solidFill>
                <a:latin typeface="Trebuchet MS"/>
                <a:cs typeface="Arial"/>
              </a:rPr>
              <a:t> of callers go back to </a:t>
            </a:r>
            <a:r>
              <a:rPr lang="en-US" sz="1100" dirty="0" err="1">
                <a:solidFill>
                  <a:schemeClr val="tx1"/>
                </a:solidFill>
                <a:latin typeface="Trebuchet MS"/>
                <a:cs typeface="Arial"/>
              </a:rPr>
              <a:t>LegalMenu</a:t>
            </a:r>
            <a:endParaRPr lang="en-US" sz="1100" dirty="0">
              <a:solidFill>
                <a:schemeClr val="tx1"/>
              </a:solidFill>
              <a:latin typeface="Trebuchet M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FD6F22-ED69-6F48-5BA5-C77B9EDEAB4A}"/>
              </a:ext>
            </a:extLst>
          </p:cNvPr>
          <p:cNvSpPr/>
          <p:nvPr/>
        </p:nvSpPr>
        <p:spPr>
          <a:xfrm>
            <a:off x="472966" y="5567951"/>
            <a:ext cx="8198068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Key Commentary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DB7C96-699B-1E06-782A-93B2F1529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018" y="0"/>
            <a:ext cx="7440085" cy="299923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1ED61A2-13FC-9DA6-E863-AF7216CD25A6}"/>
              </a:ext>
            </a:extLst>
          </p:cNvPr>
          <p:cNvSpPr/>
          <p:nvPr/>
        </p:nvSpPr>
        <p:spPr>
          <a:xfrm>
            <a:off x="8099489" y="1592983"/>
            <a:ext cx="587311" cy="3712685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err="1">
                <a:latin typeface="Trebuchet MS" panose="020B0703020202090204" pitchFamily="34" charset="0"/>
              </a:rPr>
              <a:t>LegalMenu</a:t>
            </a:r>
            <a:endParaRPr lang="en-US" b="1">
              <a:latin typeface="Trebuchet MS" panose="020B070302020209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AC180A-C3BD-88D2-6F39-B38D17E50741}"/>
              </a:ext>
            </a:extLst>
          </p:cNvPr>
          <p:cNvSpPr/>
          <p:nvPr/>
        </p:nvSpPr>
        <p:spPr>
          <a:xfrm>
            <a:off x="515566" y="1592983"/>
            <a:ext cx="587311" cy="3712689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 err="1">
                <a:latin typeface="Trebuchet MS" panose="020B0703020202090204" pitchFamily="34" charset="0"/>
              </a:rPr>
              <a:t>LegalMenu</a:t>
            </a:r>
            <a:endParaRPr lang="en-US" b="1">
              <a:latin typeface="Trebuchet MS" panose="020B070302020209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43BC39-E957-45C8-4FC7-1F3CE598CBD6}"/>
              </a:ext>
            </a:extLst>
          </p:cNvPr>
          <p:cNvSpPr/>
          <p:nvPr/>
        </p:nvSpPr>
        <p:spPr>
          <a:xfrm>
            <a:off x="4143983" y="1592983"/>
            <a:ext cx="914400" cy="365760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err="1">
                <a:latin typeface="Trebuchet MS" panose="020B0703020202090204" pitchFamily="34" charset="0"/>
              </a:rPr>
              <a:t>LegalHousing</a:t>
            </a:r>
            <a:r>
              <a:rPr lang="en-US" sz="900" b="1">
                <a:latin typeface="Trebuchet MS" panose="020B0703020202090204" pitchFamily="34" charset="0"/>
              </a:rPr>
              <a:t> Menu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39E4DC83-5F5E-25B4-4008-4DE743BA4494}"/>
              </a:ext>
            </a:extLst>
          </p:cNvPr>
          <p:cNvSpPr/>
          <p:nvPr/>
        </p:nvSpPr>
        <p:spPr>
          <a:xfrm>
            <a:off x="1320410" y="1592983"/>
            <a:ext cx="2606040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0E8931ED-336B-D118-250D-A276B4456D08}"/>
              </a:ext>
            </a:extLst>
          </p:cNvPr>
          <p:cNvSpPr/>
          <p:nvPr/>
        </p:nvSpPr>
        <p:spPr>
          <a:xfrm>
            <a:off x="5275916" y="1592983"/>
            <a:ext cx="2606040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DDEAC7-BF1D-D6E6-8DD8-CBCD5F316490}"/>
              </a:ext>
            </a:extLst>
          </p:cNvPr>
          <p:cNvSpPr/>
          <p:nvPr/>
        </p:nvSpPr>
        <p:spPr>
          <a:xfrm>
            <a:off x="4143983" y="2429715"/>
            <a:ext cx="914400" cy="365760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err="1">
                <a:latin typeface="Trebuchet MS" panose="020B0703020202090204" pitchFamily="34" charset="0"/>
              </a:rPr>
              <a:t>LegalFamily</a:t>
            </a:r>
            <a:r>
              <a:rPr lang="en-US" sz="900" b="1">
                <a:latin typeface="Trebuchet MS" panose="020B0703020202090204" pitchFamily="34" charset="0"/>
              </a:rPr>
              <a:t> Menu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7C6F673B-AB82-A5C5-66C2-A20E83E480CE}"/>
              </a:ext>
            </a:extLst>
          </p:cNvPr>
          <p:cNvSpPr/>
          <p:nvPr/>
        </p:nvSpPr>
        <p:spPr>
          <a:xfrm>
            <a:off x="1320410" y="2429715"/>
            <a:ext cx="2606040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CFA4DDC6-C6B0-646C-23B2-BA2362EC6187}"/>
              </a:ext>
            </a:extLst>
          </p:cNvPr>
          <p:cNvSpPr/>
          <p:nvPr/>
        </p:nvSpPr>
        <p:spPr>
          <a:xfrm>
            <a:off x="5275916" y="2429715"/>
            <a:ext cx="2606040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617832-2C68-1FFF-8FEE-9405E1DC73E9}"/>
              </a:ext>
            </a:extLst>
          </p:cNvPr>
          <p:cNvSpPr/>
          <p:nvPr/>
        </p:nvSpPr>
        <p:spPr>
          <a:xfrm>
            <a:off x="4143983" y="3266447"/>
            <a:ext cx="914400" cy="365760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err="1">
                <a:latin typeface="Trebuchet MS" panose="020B0703020202090204" pitchFamily="34" charset="0"/>
              </a:rPr>
              <a:t>OtherLegal</a:t>
            </a:r>
            <a:r>
              <a:rPr lang="en-US" sz="900" b="1">
                <a:latin typeface="Trebuchet MS" panose="020B0703020202090204" pitchFamily="34" charset="0"/>
              </a:rPr>
              <a:t> Menu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D2462830-A0BB-FD45-4D38-EB6743EDCCF2}"/>
              </a:ext>
            </a:extLst>
          </p:cNvPr>
          <p:cNvSpPr/>
          <p:nvPr/>
        </p:nvSpPr>
        <p:spPr>
          <a:xfrm>
            <a:off x="1320410" y="3266447"/>
            <a:ext cx="2606040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6F64EDC4-01A9-7492-8477-1F638F91C52D}"/>
              </a:ext>
            </a:extLst>
          </p:cNvPr>
          <p:cNvSpPr/>
          <p:nvPr/>
        </p:nvSpPr>
        <p:spPr>
          <a:xfrm>
            <a:off x="5275916" y="3266447"/>
            <a:ext cx="2606040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D1683D-DD45-2A18-8673-17F1620E6E2C}"/>
              </a:ext>
            </a:extLst>
          </p:cNvPr>
          <p:cNvSpPr/>
          <p:nvPr/>
        </p:nvSpPr>
        <p:spPr>
          <a:xfrm>
            <a:off x="4143983" y="4103179"/>
            <a:ext cx="914400" cy="365760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err="1">
                <a:latin typeface="Trebuchet MS" panose="020B0703020202090204" pitchFamily="34" charset="0"/>
              </a:rPr>
              <a:t>LegalHIV</a:t>
            </a:r>
            <a:r>
              <a:rPr lang="en-US" sz="900" b="1">
                <a:latin typeface="Trebuchet MS" panose="020B0703020202090204" pitchFamily="34" charset="0"/>
              </a:rPr>
              <a:t> Menu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A53D9E21-7A5A-2F6B-400A-FE999FB0FDA4}"/>
              </a:ext>
            </a:extLst>
          </p:cNvPr>
          <p:cNvSpPr/>
          <p:nvPr/>
        </p:nvSpPr>
        <p:spPr>
          <a:xfrm>
            <a:off x="1320410" y="4103179"/>
            <a:ext cx="2606040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298A44EE-0EA5-698F-F881-0EE86CEC28D7}"/>
              </a:ext>
            </a:extLst>
          </p:cNvPr>
          <p:cNvSpPr/>
          <p:nvPr/>
        </p:nvSpPr>
        <p:spPr>
          <a:xfrm>
            <a:off x="5275916" y="4103179"/>
            <a:ext cx="2606040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61A308-F692-90FF-CB53-242F7AA768B4}"/>
              </a:ext>
            </a:extLst>
          </p:cNvPr>
          <p:cNvSpPr/>
          <p:nvPr/>
        </p:nvSpPr>
        <p:spPr>
          <a:xfrm>
            <a:off x="6121736" y="4939912"/>
            <a:ext cx="914400" cy="365760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err="1">
                <a:latin typeface="Trebuchet MS" panose="020B0703020202090204" pitchFamily="34" charset="0"/>
              </a:rPr>
              <a:t>LegalHousing</a:t>
            </a:r>
            <a:r>
              <a:rPr lang="en-US" sz="900" b="1">
                <a:latin typeface="Trebuchet MS" panose="020B0703020202090204" pitchFamily="34" charset="0"/>
              </a:rPr>
              <a:t> Menu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8751C3-FB39-4756-69A3-F3DDCD7955D5}"/>
              </a:ext>
            </a:extLst>
          </p:cNvPr>
          <p:cNvSpPr/>
          <p:nvPr/>
        </p:nvSpPr>
        <p:spPr>
          <a:xfrm>
            <a:off x="4143983" y="4939912"/>
            <a:ext cx="914400" cy="365760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err="1">
                <a:latin typeface="Trebuchet MS" panose="020B0703020202090204" pitchFamily="34" charset="0"/>
              </a:rPr>
              <a:t>LegalMenu</a:t>
            </a:r>
            <a:endParaRPr lang="en-US" sz="900" b="1">
              <a:latin typeface="Trebuchet MS" panose="020B070302020209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69A4FF-3B1D-F907-DFE7-AEB714B14C7C}"/>
              </a:ext>
            </a:extLst>
          </p:cNvPr>
          <p:cNvSpPr/>
          <p:nvPr/>
        </p:nvSpPr>
        <p:spPr>
          <a:xfrm>
            <a:off x="2166230" y="4939912"/>
            <a:ext cx="914400" cy="365760"/>
          </a:xfrm>
          <a:prstGeom prst="rect">
            <a:avLst/>
          </a:prstGeom>
          <a:solidFill>
            <a:srgbClr val="00345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err="1">
                <a:latin typeface="Trebuchet MS" panose="020B0703020202090204" pitchFamily="34" charset="0"/>
              </a:rPr>
              <a:t>LegalHousing</a:t>
            </a:r>
            <a:r>
              <a:rPr lang="en-US" sz="900" b="1">
                <a:latin typeface="Trebuchet MS" panose="020B0703020202090204" pitchFamily="34" charset="0"/>
              </a:rPr>
              <a:t> Menu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BC72B90D-E0AC-9784-F31F-FA346B3D0F52}"/>
              </a:ext>
            </a:extLst>
          </p:cNvPr>
          <p:cNvSpPr/>
          <p:nvPr/>
        </p:nvSpPr>
        <p:spPr>
          <a:xfrm>
            <a:off x="1300798" y="4939912"/>
            <a:ext cx="667512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1EB16354-D7F4-6898-F375-691C27DE23C2}"/>
              </a:ext>
            </a:extLst>
          </p:cNvPr>
          <p:cNvSpPr/>
          <p:nvPr/>
        </p:nvSpPr>
        <p:spPr>
          <a:xfrm>
            <a:off x="3278550" y="4939912"/>
            <a:ext cx="667512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F568B4E0-7A2D-555F-E831-46331BDA3F6F}"/>
              </a:ext>
            </a:extLst>
          </p:cNvPr>
          <p:cNvSpPr/>
          <p:nvPr/>
        </p:nvSpPr>
        <p:spPr>
          <a:xfrm>
            <a:off x="5256304" y="4939912"/>
            <a:ext cx="667512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9C69A3B4-09E3-0082-C5B6-ADFB0E98085F}"/>
              </a:ext>
            </a:extLst>
          </p:cNvPr>
          <p:cNvSpPr/>
          <p:nvPr/>
        </p:nvSpPr>
        <p:spPr>
          <a:xfrm>
            <a:off x="7234057" y="4939912"/>
            <a:ext cx="667512" cy="365760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E62660-89C4-6316-E7A4-00E56BC2AACA}"/>
              </a:ext>
            </a:extLst>
          </p:cNvPr>
          <p:cNvSpPr/>
          <p:nvPr/>
        </p:nvSpPr>
        <p:spPr>
          <a:xfrm>
            <a:off x="1" y="1592984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1310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7AF517-F607-0F70-1A59-33EB6D6C3F95}"/>
              </a:ext>
            </a:extLst>
          </p:cNvPr>
          <p:cNvSpPr/>
          <p:nvPr/>
        </p:nvSpPr>
        <p:spPr>
          <a:xfrm>
            <a:off x="1" y="1284083"/>
            <a:ext cx="432978" cy="2477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#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ED6BE6-A3FC-DCA5-3602-F03041465480}"/>
              </a:ext>
            </a:extLst>
          </p:cNvPr>
          <p:cNvSpPr/>
          <p:nvPr/>
        </p:nvSpPr>
        <p:spPr>
          <a:xfrm>
            <a:off x="1" y="2429715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1247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1E32F60-EF3C-C4EB-C579-852C4F847113}"/>
              </a:ext>
            </a:extLst>
          </p:cNvPr>
          <p:cNvSpPr/>
          <p:nvPr/>
        </p:nvSpPr>
        <p:spPr>
          <a:xfrm>
            <a:off x="1" y="3266447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1095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CD7C8F-24E3-0160-30F6-CCAD29101A77}"/>
              </a:ext>
            </a:extLst>
          </p:cNvPr>
          <p:cNvSpPr/>
          <p:nvPr/>
        </p:nvSpPr>
        <p:spPr>
          <a:xfrm>
            <a:off x="1" y="4103179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236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65DD01-6D38-B4FD-B3DB-CAFA235EA00A}"/>
              </a:ext>
            </a:extLst>
          </p:cNvPr>
          <p:cNvSpPr/>
          <p:nvPr/>
        </p:nvSpPr>
        <p:spPr>
          <a:xfrm>
            <a:off x="1" y="4939912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131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5235F-ED1C-F7AF-1291-238C9E7B08EF}"/>
              </a:ext>
            </a:extLst>
          </p:cNvPr>
          <p:cNvSpPr/>
          <p:nvPr/>
        </p:nvSpPr>
        <p:spPr>
          <a:xfrm>
            <a:off x="8711022" y="1592984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highlight>
                  <a:srgbClr val="F73C1C"/>
                </a:highlight>
                <a:latin typeface="Trebuchet MS" panose="020B0703020202090204" pitchFamily="34" charset="0"/>
              </a:rPr>
              <a:t>12.0%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BE770B-7AEE-B5AC-395D-3DC9213A901A}"/>
              </a:ext>
            </a:extLst>
          </p:cNvPr>
          <p:cNvSpPr/>
          <p:nvPr/>
        </p:nvSpPr>
        <p:spPr>
          <a:xfrm>
            <a:off x="8711022" y="1284083"/>
            <a:ext cx="432978" cy="2477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B5C67C-8940-F577-9794-3CADE1040A11}"/>
              </a:ext>
            </a:extLst>
          </p:cNvPr>
          <p:cNvSpPr/>
          <p:nvPr/>
        </p:nvSpPr>
        <p:spPr>
          <a:xfrm>
            <a:off x="8711022" y="2429715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8.6%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C15EC5-55DC-51D1-BDC9-715882AAEB54}"/>
              </a:ext>
            </a:extLst>
          </p:cNvPr>
          <p:cNvSpPr/>
          <p:nvPr/>
        </p:nvSpPr>
        <p:spPr>
          <a:xfrm>
            <a:off x="8711022" y="3266447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13.3%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128D8B-6B2E-CAA5-9762-140BD0928810}"/>
              </a:ext>
            </a:extLst>
          </p:cNvPr>
          <p:cNvSpPr/>
          <p:nvPr/>
        </p:nvSpPr>
        <p:spPr>
          <a:xfrm>
            <a:off x="8711022" y="4103179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bg1"/>
                </a:solidFill>
                <a:highlight>
                  <a:srgbClr val="F73C1C"/>
                </a:highlight>
                <a:latin typeface="Trebuchet MS" panose="020B0703020202090204" pitchFamily="34" charset="0"/>
              </a:rPr>
              <a:t>19.2%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E7C909-42DB-ACD1-A6B6-B424E61AFA0D}"/>
              </a:ext>
            </a:extLst>
          </p:cNvPr>
          <p:cNvSpPr/>
          <p:nvPr/>
        </p:nvSpPr>
        <p:spPr>
          <a:xfrm>
            <a:off x="8711022" y="4939912"/>
            <a:ext cx="432978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Trebuchet MS" panose="020B0703020202090204" pitchFamily="34" charset="0"/>
              </a:rPr>
              <a:t>1.2%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E0069A5-D400-7F7E-AAE6-BA840721B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001" y="3272395"/>
            <a:ext cx="3618925" cy="263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0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0" grpId="0"/>
      <p:bldP spid="41" grpId="0"/>
      <p:bldP spid="42" grpId="0"/>
      <p:bldP spid="43" grpId="0"/>
      <p:bldP spid="44" grpId="0"/>
      <p:bldP spid="45" grpId="0"/>
      <p:bldP spid="8" grpId="0"/>
      <p:bldP spid="9" grpId="0"/>
      <p:bldP spid="12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FA8E-D304-AD11-DDD6-2E05D6F7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MENU REDESIGN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4F103-FF19-82FA-2B3F-42C59DAF41B1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Reducing the # of options callers listen to, we can avoid confusion and save callers time from needing the many options repeated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54E17-4FF0-F7D6-6D8C-2297E0E9EC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6A441F-8527-F333-46A4-81A31CBA2C5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Google Shape;90;p2">
            <a:extLst>
              <a:ext uri="{FF2B5EF4-FFF2-40B4-BE49-F238E27FC236}">
                <a16:creationId xmlns:a16="http://schemas.microsoft.com/office/drawing/2014/main" id="{931E62D9-8689-35A7-AF89-A0F0B7451ABF}"/>
              </a:ext>
            </a:extLst>
          </p:cNvPr>
          <p:cNvSpPr/>
          <p:nvPr/>
        </p:nvSpPr>
        <p:spPr>
          <a:xfrm>
            <a:off x="461961" y="1284083"/>
            <a:ext cx="3988118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Old Flow</a:t>
            </a:r>
            <a:endParaRPr lang="en-US"/>
          </a:p>
        </p:txBody>
      </p:sp>
      <p:sp>
        <p:nvSpPr>
          <p:cNvPr id="8" name="Google Shape;90;p2">
            <a:extLst>
              <a:ext uri="{FF2B5EF4-FFF2-40B4-BE49-F238E27FC236}">
                <a16:creationId xmlns:a16="http://schemas.microsoft.com/office/drawing/2014/main" id="{50C761C0-D7E5-D3E3-BA46-54B3FD16BEA9}"/>
              </a:ext>
            </a:extLst>
          </p:cNvPr>
          <p:cNvSpPr/>
          <p:nvPr/>
        </p:nvSpPr>
        <p:spPr>
          <a:xfrm>
            <a:off x="4698681" y="1284083"/>
            <a:ext cx="3988118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New Flow</a:t>
            </a:r>
            <a:endParaRPr lang="en-US"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708CF0-F183-5039-EA8C-395891448B8D}"/>
              </a:ext>
            </a:extLst>
          </p:cNvPr>
          <p:cNvSpPr/>
          <p:nvPr/>
        </p:nvSpPr>
        <p:spPr>
          <a:xfrm>
            <a:off x="464341" y="4655079"/>
            <a:ext cx="8222459" cy="1411170"/>
          </a:xfrm>
          <a:prstGeom prst="rect">
            <a:avLst/>
          </a:prstGeom>
          <a:ln w="19050">
            <a:solidFill>
              <a:srgbClr val="00345B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Since a lot of callers go to the </a:t>
            </a:r>
            <a:r>
              <a:rPr lang="en-US" sz="1100" dirty="0" err="1">
                <a:solidFill>
                  <a:schemeClr val="tx1"/>
                </a:solidFill>
                <a:latin typeface="Trebuchet MS"/>
                <a:sym typeface="Trebuchet MS"/>
              </a:rPr>
              <a:t>MainMenu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, this will affect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104,664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who spend an average time of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30.6s to make a choice</a:t>
            </a: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The menu is redesigned to ask the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most selected options first</a:t>
            </a:r>
            <a:endParaRPr lang="en-US" sz="1100" dirty="0">
              <a:solidFill>
                <a:schemeClr val="tx1"/>
              </a:solidFill>
              <a:latin typeface="Trebuchet MS"/>
              <a:sym typeface="Trebuchet MS"/>
            </a:endParaRP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The verbiage for the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2 options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that go to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staff directory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will be combined: For the staff directory or if you are trying to reach the attorney or paralegal you are already working with,, please press 2 (allows people to reach directory quicker)</a:t>
            </a: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Because of redundancy, the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second other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will take you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directly to the front desk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instead of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asking if a legal issue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(as they were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already asked if they had a legal issue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)</a:t>
            </a:r>
            <a:endParaRPr lang="en-US" sz="1100" b="1" dirty="0">
              <a:solidFill>
                <a:schemeClr val="tx1"/>
              </a:solidFill>
              <a:latin typeface="Trebuchet MS"/>
              <a:sym typeface="Trebuchet MS"/>
            </a:endParaRP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If selecting a legal issue, instead of going to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pre-legal menu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you can go directly to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legal menu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 (and ask if senior later)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57421D-7EB8-6716-85A5-CCB830B71525}"/>
              </a:ext>
            </a:extLst>
          </p:cNvPr>
          <p:cNvSpPr/>
          <p:nvPr/>
        </p:nvSpPr>
        <p:spPr>
          <a:xfrm>
            <a:off x="1680804" y="1713409"/>
            <a:ext cx="1550433" cy="330404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MainMenu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23D807-FAF8-7FE9-C393-C9A2A747A9DB}"/>
              </a:ext>
            </a:extLst>
          </p:cNvPr>
          <p:cNvSpPr/>
          <p:nvPr/>
        </p:nvSpPr>
        <p:spPr>
          <a:xfrm>
            <a:off x="471055" y="2117215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Trebuchet MS" panose="020B0703020202090204" pitchFamily="34" charset="0"/>
              </a:rPr>
              <a:t>Appoin</a:t>
            </a:r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-</a:t>
            </a:r>
          </a:p>
          <a:p>
            <a:pPr algn="ctr"/>
            <a:r>
              <a:rPr lang="en-US" sz="900" dirty="0" err="1">
                <a:solidFill>
                  <a:schemeClr val="bg1"/>
                </a:solidFill>
                <a:latin typeface="Trebuchet MS" panose="020B0703020202090204" pitchFamily="34" charset="0"/>
              </a:rPr>
              <a:t>tment</a:t>
            </a:r>
            <a:endParaRPr lang="en-US" sz="9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15F7C5-5291-FBB5-4A7B-E895A8A49805}"/>
              </a:ext>
            </a:extLst>
          </p:cNvPr>
          <p:cNvSpPr/>
          <p:nvPr/>
        </p:nvSpPr>
        <p:spPr>
          <a:xfrm>
            <a:off x="857816" y="2762455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Address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Fax Hours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9F2DA7-DA24-10A4-6B4E-86141E57FE93}"/>
              </a:ext>
            </a:extLst>
          </p:cNvPr>
          <p:cNvSpPr/>
          <p:nvPr/>
        </p:nvSpPr>
        <p:spPr>
          <a:xfrm>
            <a:off x="1244577" y="3407695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Compliment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Complaint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1AC7F-30DD-5CA9-C8FB-93C4A2E076BF}"/>
              </a:ext>
            </a:extLst>
          </p:cNvPr>
          <p:cNvSpPr/>
          <p:nvPr/>
        </p:nvSpPr>
        <p:spPr>
          <a:xfrm>
            <a:off x="1631338" y="4052936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Pre-Legal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0D7B2A-1C17-8F28-2BE2-BF1E08F552A0}"/>
              </a:ext>
            </a:extLst>
          </p:cNvPr>
          <p:cNvSpPr/>
          <p:nvPr/>
        </p:nvSpPr>
        <p:spPr>
          <a:xfrm>
            <a:off x="2594902" y="4052936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  <a:latin typeface="Trebuchet MS" panose="020B0703020202090204" pitchFamily="34" charset="0"/>
              </a:rPr>
              <a:t>Help With</a:t>
            </a:r>
          </a:p>
          <a:p>
            <a:pPr algn="ctr"/>
            <a:r>
              <a:rPr lang="en-US" sz="800" dirty="0" err="1">
                <a:solidFill>
                  <a:schemeClr val="bg1"/>
                </a:solidFill>
                <a:latin typeface="Trebuchet MS" panose="020B0703020202090204" pitchFamily="34" charset="0"/>
              </a:rPr>
              <a:t>LegalOrOther</a:t>
            </a:r>
            <a:endParaRPr lang="en-US" sz="8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5ED57B-3888-FA85-0085-F9BB6AD37001}"/>
              </a:ext>
            </a:extLst>
          </p:cNvPr>
          <p:cNvSpPr/>
          <p:nvPr/>
        </p:nvSpPr>
        <p:spPr>
          <a:xfrm>
            <a:off x="2984694" y="3407695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Clinic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Voicemail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EE71EC-35AB-966A-FC25-F303CD2C90FD}"/>
              </a:ext>
            </a:extLst>
          </p:cNvPr>
          <p:cNvSpPr/>
          <p:nvPr/>
        </p:nvSpPr>
        <p:spPr>
          <a:xfrm>
            <a:off x="3374486" y="2762455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Staff</a:t>
            </a:r>
            <a:b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</a:br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Directory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7E6493-D96C-C452-6254-342485E1709F}"/>
              </a:ext>
            </a:extLst>
          </p:cNvPr>
          <p:cNvSpPr/>
          <p:nvPr/>
        </p:nvSpPr>
        <p:spPr>
          <a:xfrm>
            <a:off x="3764279" y="2117215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Front Desk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Transfer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AF152E-354F-0E7B-F95C-19016DAE2D29}"/>
              </a:ext>
            </a:extLst>
          </p:cNvPr>
          <p:cNvCxnSpPr>
            <a:stCxn id="11" idx="2"/>
            <a:endCxn id="12" idx="3"/>
          </p:cNvCxnSpPr>
          <p:nvPr/>
        </p:nvCxnSpPr>
        <p:spPr>
          <a:xfrm flipH="1">
            <a:off x="1156855" y="2043813"/>
            <a:ext cx="1299166" cy="30200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E0EB1F-B201-D4C9-374B-C7BCDA7F2914}"/>
              </a:ext>
            </a:extLst>
          </p:cNvPr>
          <p:cNvCxnSpPr>
            <a:stCxn id="11" idx="2"/>
            <a:endCxn id="13" idx="3"/>
          </p:cNvCxnSpPr>
          <p:nvPr/>
        </p:nvCxnSpPr>
        <p:spPr>
          <a:xfrm flipH="1">
            <a:off x="1543616" y="2043813"/>
            <a:ext cx="912405" cy="94724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D3C13D-4247-96EE-965F-340FB8CC2A41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 flipH="1">
            <a:off x="1587477" y="2043813"/>
            <a:ext cx="868544" cy="136388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DF87A23-D813-18F5-512C-D8E38B41CB35}"/>
              </a:ext>
            </a:extLst>
          </p:cNvPr>
          <p:cNvCxnSpPr>
            <a:stCxn id="11" idx="2"/>
            <a:endCxn id="15" idx="0"/>
          </p:cNvCxnSpPr>
          <p:nvPr/>
        </p:nvCxnSpPr>
        <p:spPr>
          <a:xfrm flipH="1">
            <a:off x="1974238" y="2043813"/>
            <a:ext cx="481783" cy="2009123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183BF9-6293-99D7-0051-D04A4F1D7CF6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>
            <a:off x="2456021" y="2043813"/>
            <a:ext cx="481781" cy="2009123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16D08A-A219-A9CA-1132-19506EAD5BD3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>
            <a:off x="2456021" y="2043813"/>
            <a:ext cx="871573" cy="136388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4BA286D-373D-4DAE-655A-58C031483477}"/>
              </a:ext>
            </a:extLst>
          </p:cNvPr>
          <p:cNvCxnSpPr>
            <a:cxnSpLocks/>
            <a:stCxn id="11" idx="2"/>
            <a:endCxn id="18" idx="1"/>
          </p:cNvCxnSpPr>
          <p:nvPr/>
        </p:nvCxnSpPr>
        <p:spPr>
          <a:xfrm>
            <a:off x="2456021" y="2043813"/>
            <a:ext cx="918465" cy="94724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B15F532-44E8-E319-DC90-AADCE2650C58}"/>
              </a:ext>
            </a:extLst>
          </p:cNvPr>
          <p:cNvCxnSpPr>
            <a:stCxn id="11" idx="2"/>
            <a:endCxn id="19" idx="1"/>
          </p:cNvCxnSpPr>
          <p:nvPr/>
        </p:nvCxnSpPr>
        <p:spPr>
          <a:xfrm>
            <a:off x="2456021" y="2043813"/>
            <a:ext cx="1308258" cy="302002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6ADB0A7E-D3A4-7D7F-D5C2-0648408B28E8}"/>
              </a:ext>
            </a:extLst>
          </p:cNvPr>
          <p:cNvCxnSpPr>
            <a:cxnSpLocks/>
          </p:cNvCxnSpPr>
          <p:nvPr/>
        </p:nvCxnSpPr>
        <p:spPr>
          <a:xfrm rot="5400000" flipH="1">
            <a:off x="1985812" y="1573604"/>
            <a:ext cx="165202" cy="775217"/>
          </a:xfrm>
          <a:prstGeom prst="bentConnector4">
            <a:avLst>
              <a:gd name="adj1" fmla="val 23623"/>
              <a:gd name="adj2" fmla="val 231620"/>
            </a:avLst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6BFB055-5785-0251-9D21-5675A797E49B}"/>
              </a:ext>
            </a:extLst>
          </p:cNvPr>
          <p:cNvSpPr txBox="1"/>
          <p:nvPr/>
        </p:nvSpPr>
        <p:spPr>
          <a:xfrm>
            <a:off x="812407" y="1510382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No/Invalid Input (x2)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82CC87-6B7B-CEA6-2618-7082668939EA}"/>
              </a:ext>
            </a:extLst>
          </p:cNvPr>
          <p:cNvSpPr txBox="1"/>
          <p:nvPr/>
        </p:nvSpPr>
        <p:spPr>
          <a:xfrm>
            <a:off x="975665" y="2079524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8F5FE7-8DC2-CCBB-01A1-28AEE32ED97A}"/>
              </a:ext>
            </a:extLst>
          </p:cNvPr>
          <p:cNvSpPr txBox="1"/>
          <p:nvPr/>
        </p:nvSpPr>
        <p:spPr>
          <a:xfrm>
            <a:off x="1330153" y="2572684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4BEC20-65EA-BFB6-6152-9B22F2975EB0}"/>
              </a:ext>
            </a:extLst>
          </p:cNvPr>
          <p:cNvSpPr txBox="1"/>
          <p:nvPr/>
        </p:nvSpPr>
        <p:spPr>
          <a:xfrm>
            <a:off x="1313226" y="2991372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BD01FB-CE61-DFB4-8803-1B04DFD72E51}"/>
              </a:ext>
            </a:extLst>
          </p:cNvPr>
          <p:cNvSpPr txBox="1"/>
          <p:nvPr/>
        </p:nvSpPr>
        <p:spPr>
          <a:xfrm>
            <a:off x="1734420" y="3664603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D79DF4-5D89-87A3-AC08-5BA036F05801}"/>
              </a:ext>
            </a:extLst>
          </p:cNvPr>
          <p:cNvSpPr txBox="1"/>
          <p:nvPr/>
        </p:nvSpPr>
        <p:spPr>
          <a:xfrm>
            <a:off x="2402420" y="3701224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440E5D-6EEE-CCA8-2E8A-7C4308F9FD5E}"/>
              </a:ext>
            </a:extLst>
          </p:cNvPr>
          <p:cNvSpPr txBox="1"/>
          <p:nvPr/>
        </p:nvSpPr>
        <p:spPr>
          <a:xfrm>
            <a:off x="2713649" y="3123564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A16482-06C3-9C71-AE75-776B4E10AB97}"/>
              </a:ext>
            </a:extLst>
          </p:cNvPr>
          <p:cNvSpPr txBox="1"/>
          <p:nvPr/>
        </p:nvSpPr>
        <p:spPr>
          <a:xfrm>
            <a:off x="2857549" y="2551666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2,6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6A756F-F8DF-FF32-044A-6B1DBAFAC98D}"/>
              </a:ext>
            </a:extLst>
          </p:cNvPr>
          <p:cNvSpPr txBox="1"/>
          <p:nvPr/>
        </p:nvSpPr>
        <p:spPr>
          <a:xfrm>
            <a:off x="3170587" y="1869867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3</a:t>
            </a:r>
            <a:r>
              <a:rPr lang="en-US" sz="1000" b="1" baseline="30000" dirty="0">
                <a:latin typeface="Trebuchet MS" panose="020B0703020202090204" pitchFamily="34" charset="0"/>
              </a:rPr>
              <a:t>rd</a:t>
            </a:r>
            <a:r>
              <a:rPr lang="en-US" sz="1000" b="1" dirty="0">
                <a:latin typeface="Trebuchet MS" panose="020B0703020202090204" pitchFamily="34" charset="0"/>
              </a:rPr>
              <a:t> Invalid Input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0F94BC-6FB7-47DF-5D5A-B03EE09E3106}"/>
              </a:ext>
            </a:extLst>
          </p:cNvPr>
          <p:cNvSpPr/>
          <p:nvPr/>
        </p:nvSpPr>
        <p:spPr>
          <a:xfrm>
            <a:off x="5917523" y="1713409"/>
            <a:ext cx="1550433" cy="330404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MainMenu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0B4B6C3-1385-99F5-3BF9-A5461C24C7EB}"/>
              </a:ext>
            </a:extLst>
          </p:cNvPr>
          <p:cNvSpPr/>
          <p:nvPr/>
        </p:nvSpPr>
        <p:spPr>
          <a:xfrm>
            <a:off x="4698681" y="2613702"/>
            <a:ext cx="566777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Legal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Menu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296EC84-B79F-9E40-DB00-8BE30AF31C45}"/>
              </a:ext>
            </a:extLst>
          </p:cNvPr>
          <p:cNvSpPr/>
          <p:nvPr/>
        </p:nvSpPr>
        <p:spPr>
          <a:xfrm>
            <a:off x="5382949" y="2613702"/>
            <a:ext cx="566777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Staff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Directory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DE9CEE9-8418-B844-7F48-BE7C80FECB85}"/>
              </a:ext>
            </a:extLst>
          </p:cNvPr>
          <p:cNvSpPr/>
          <p:nvPr/>
        </p:nvSpPr>
        <p:spPr>
          <a:xfrm>
            <a:off x="6067217" y="2613702"/>
            <a:ext cx="566777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Clinic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Voicemail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CF00BA4-68CF-7BFB-CE2A-DEF5DF2E03DC}"/>
              </a:ext>
            </a:extLst>
          </p:cNvPr>
          <p:cNvSpPr/>
          <p:nvPr/>
        </p:nvSpPr>
        <p:spPr>
          <a:xfrm>
            <a:off x="6751485" y="2613702"/>
            <a:ext cx="566777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Appoint-</a:t>
            </a:r>
          </a:p>
          <a:p>
            <a:pPr algn="ctr"/>
            <a:r>
              <a:rPr lang="en-US" sz="900" dirty="0" err="1">
                <a:solidFill>
                  <a:schemeClr val="bg1"/>
                </a:solidFill>
                <a:latin typeface="Trebuchet MS" panose="020B0703020202090204" pitchFamily="34" charset="0"/>
              </a:rPr>
              <a:t>Ment</a:t>
            </a:r>
            <a:endParaRPr lang="en-US" sz="90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EC325FF-3716-90A1-02CC-2ABF01946075}"/>
              </a:ext>
            </a:extLst>
          </p:cNvPr>
          <p:cNvSpPr/>
          <p:nvPr/>
        </p:nvSpPr>
        <p:spPr>
          <a:xfrm>
            <a:off x="7435753" y="2613702"/>
            <a:ext cx="566777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Other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7FC599-8293-D924-5755-FE3E7AFB5CD5}"/>
              </a:ext>
            </a:extLst>
          </p:cNvPr>
          <p:cNvSpPr/>
          <p:nvPr/>
        </p:nvSpPr>
        <p:spPr>
          <a:xfrm>
            <a:off x="471055" y="4634212"/>
            <a:ext cx="8215745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Key Recommendations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FFCF6D2-9F38-6FDC-3177-6EFF19321791}"/>
              </a:ext>
            </a:extLst>
          </p:cNvPr>
          <p:cNvSpPr/>
          <p:nvPr/>
        </p:nvSpPr>
        <p:spPr>
          <a:xfrm>
            <a:off x="5524259" y="3640791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Address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Fax Hours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C63F0FC-0FC6-FE2A-E9E6-F731ACA14C86}"/>
              </a:ext>
            </a:extLst>
          </p:cNvPr>
          <p:cNvSpPr/>
          <p:nvPr/>
        </p:nvSpPr>
        <p:spPr>
          <a:xfrm>
            <a:off x="6349839" y="3640791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Compliment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Complaint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75D9B28-6116-1C56-67C1-1FA3B36118CF}"/>
              </a:ext>
            </a:extLst>
          </p:cNvPr>
          <p:cNvSpPr/>
          <p:nvPr/>
        </p:nvSpPr>
        <p:spPr>
          <a:xfrm>
            <a:off x="7175419" y="3640791"/>
            <a:ext cx="685800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Other (Front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Desk)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2E8CF4D-7F08-B38D-859D-9EDDA38FE60D}"/>
              </a:ext>
            </a:extLst>
          </p:cNvPr>
          <p:cNvCxnSpPr>
            <a:stCxn id="59" idx="2"/>
            <a:endCxn id="61" idx="0"/>
          </p:cNvCxnSpPr>
          <p:nvPr/>
        </p:nvCxnSpPr>
        <p:spPr>
          <a:xfrm flipH="1">
            <a:off x="4982070" y="2043813"/>
            <a:ext cx="1710670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D2E34690-006B-9D35-C6A1-82CA74D39256}"/>
              </a:ext>
            </a:extLst>
          </p:cNvPr>
          <p:cNvSpPr/>
          <p:nvPr/>
        </p:nvSpPr>
        <p:spPr>
          <a:xfrm>
            <a:off x="8120022" y="2613702"/>
            <a:ext cx="566777" cy="457200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Front Desk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Trebuchet MS" panose="020B0703020202090204" pitchFamily="34" charset="0"/>
              </a:rPr>
              <a:t>Transfer</a:t>
            </a: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444EE134-856A-7A7C-69AF-8DE2536ACAA6}"/>
              </a:ext>
            </a:extLst>
          </p:cNvPr>
          <p:cNvCxnSpPr>
            <a:cxnSpLocks/>
          </p:cNvCxnSpPr>
          <p:nvPr/>
        </p:nvCxnSpPr>
        <p:spPr>
          <a:xfrm rot="5400000" flipH="1">
            <a:off x="6213040" y="1573605"/>
            <a:ext cx="165202" cy="775217"/>
          </a:xfrm>
          <a:prstGeom prst="bentConnector4">
            <a:avLst>
              <a:gd name="adj1" fmla="val 23623"/>
              <a:gd name="adj2" fmla="val 231620"/>
            </a:avLst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F9AE2B9-576F-56B7-B89C-36C06A3AFBB8}"/>
              </a:ext>
            </a:extLst>
          </p:cNvPr>
          <p:cNvCxnSpPr>
            <a:stCxn id="59" idx="2"/>
            <a:endCxn id="62" idx="0"/>
          </p:cNvCxnSpPr>
          <p:nvPr/>
        </p:nvCxnSpPr>
        <p:spPr>
          <a:xfrm flipH="1">
            <a:off x="5666338" y="2043813"/>
            <a:ext cx="1026402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C2901E0-8264-5BBF-9D37-078AC903260B}"/>
              </a:ext>
            </a:extLst>
          </p:cNvPr>
          <p:cNvCxnSpPr>
            <a:stCxn id="59" idx="2"/>
            <a:endCxn id="63" idx="0"/>
          </p:cNvCxnSpPr>
          <p:nvPr/>
        </p:nvCxnSpPr>
        <p:spPr>
          <a:xfrm flipH="1">
            <a:off x="6350606" y="2043813"/>
            <a:ext cx="342134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84945BA-08A5-A813-6453-58B81CCB9385}"/>
              </a:ext>
            </a:extLst>
          </p:cNvPr>
          <p:cNvCxnSpPr>
            <a:stCxn id="59" idx="2"/>
            <a:endCxn id="64" idx="0"/>
          </p:cNvCxnSpPr>
          <p:nvPr/>
        </p:nvCxnSpPr>
        <p:spPr>
          <a:xfrm>
            <a:off x="6692740" y="2043813"/>
            <a:ext cx="342134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64B06D8-F6F7-95C0-7020-5DC34BB8AB82}"/>
              </a:ext>
            </a:extLst>
          </p:cNvPr>
          <p:cNvCxnSpPr>
            <a:stCxn id="59" idx="2"/>
            <a:endCxn id="65" idx="0"/>
          </p:cNvCxnSpPr>
          <p:nvPr/>
        </p:nvCxnSpPr>
        <p:spPr>
          <a:xfrm>
            <a:off x="6692740" y="2043813"/>
            <a:ext cx="1026402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98CF805-0CD2-63E7-288B-80470DA70975}"/>
              </a:ext>
            </a:extLst>
          </p:cNvPr>
          <p:cNvCxnSpPr>
            <a:stCxn id="59" idx="2"/>
            <a:endCxn id="80" idx="0"/>
          </p:cNvCxnSpPr>
          <p:nvPr/>
        </p:nvCxnSpPr>
        <p:spPr>
          <a:xfrm>
            <a:off x="6692740" y="2043813"/>
            <a:ext cx="1710671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CE29284-9601-5DED-A666-D564B528136E}"/>
              </a:ext>
            </a:extLst>
          </p:cNvPr>
          <p:cNvCxnSpPr>
            <a:stCxn id="65" idx="2"/>
            <a:endCxn id="68" idx="0"/>
          </p:cNvCxnSpPr>
          <p:nvPr/>
        </p:nvCxnSpPr>
        <p:spPr>
          <a:xfrm flipH="1">
            <a:off x="5867159" y="3070902"/>
            <a:ext cx="1851983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B7FE89B-1D1E-9270-DB9C-67DBBA38408A}"/>
              </a:ext>
            </a:extLst>
          </p:cNvPr>
          <p:cNvCxnSpPr>
            <a:stCxn id="65" idx="2"/>
            <a:endCxn id="69" idx="0"/>
          </p:cNvCxnSpPr>
          <p:nvPr/>
        </p:nvCxnSpPr>
        <p:spPr>
          <a:xfrm flipH="1">
            <a:off x="6692739" y="3070902"/>
            <a:ext cx="1026403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1831360-18AD-554A-452C-224F270F2853}"/>
              </a:ext>
            </a:extLst>
          </p:cNvPr>
          <p:cNvCxnSpPr>
            <a:stCxn id="65" idx="2"/>
            <a:endCxn id="70" idx="0"/>
          </p:cNvCxnSpPr>
          <p:nvPr/>
        </p:nvCxnSpPr>
        <p:spPr>
          <a:xfrm flipH="1">
            <a:off x="7518319" y="3070902"/>
            <a:ext cx="200823" cy="569889"/>
          </a:xfrm>
          <a:prstGeom prst="straightConnector1">
            <a:avLst/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105FA82-1A93-4EA8-A79C-B646A5228ABD}"/>
              </a:ext>
            </a:extLst>
          </p:cNvPr>
          <p:cNvSpPr txBox="1"/>
          <p:nvPr/>
        </p:nvSpPr>
        <p:spPr>
          <a:xfrm>
            <a:off x="5102195" y="1510382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No/Invalid Input (x2)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149F2F1-3ABA-631C-5703-E06D0D06F619}"/>
              </a:ext>
            </a:extLst>
          </p:cNvPr>
          <p:cNvSpPr txBox="1"/>
          <p:nvPr/>
        </p:nvSpPr>
        <p:spPr>
          <a:xfrm>
            <a:off x="5045987" y="2232259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2B96F5D-F4D5-49DD-5530-1850D94BA6BE}"/>
              </a:ext>
            </a:extLst>
          </p:cNvPr>
          <p:cNvSpPr txBox="1"/>
          <p:nvPr/>
        </p:nvSpPr>
        <p:spPr>
          <a:xfrm>
            <a:off x="5429564" y="2336857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B6E3FEF-6C4F-650C-3624-72FCC8725132}"/>
              </a:ext>
            </a:extLst>
          </p:cNvPr>
          <p:cNvSpPr txBox="1"/>
          <p:nvPr/>
        </p:nvSpPr>
        <p:spPr>
          <a:xfrm>
            <a:off x="5949726" y="2335539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6DBA79E-074A-7241-7228-CD4E330032B8}"/>
              </a:ext>
            </a:extLst>
          </p:cNvPr>
          <p:cNvSpPr txBox="1"/>
          <p:nvPr/>
        </p:nvSpPr>
        <p:spPr>
          <a:xfrm>
            <a:off x="6459811" y="2353310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3B7993B-AA96-0109-41AB-4B42191D6184}"/>
              </a:ext>
            </a:extLst>
          </p:cNvPr>
          <p:cNvSpPr txBox="1"/>
          <p:nvPr/>
        </p:nvSpPr>
        <p:spPr>
          <a:xfrm>
            <a:off x="6983123" y="2411674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D32439E-7913-A5F9-6D90-9780A6062252}"/>
              </a:ext>
            </a:extLst>
          </p:cNvPr>
          <p:cNvSpPr txBox="1"/>
          <p:nvPr/>
        </p:nvSpPr>
        <p:spPr>
          <a:xfrm>
            <a:off x="7575456" y="2043813"/>
            <a:ext cx="793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3</a:t>
            </a:r>
            <a:r>
              <a:rPr lang="en-US" sz="1000" b="1" baseline="30000" dirty="0">
                <a:latin typeface="Trebuchet MS" panose="020B0703020202090204" pitchFamily="34" charset="0"/>
              </a:rPr>
              <a:t>rd</a:t>
            </a:r>
            <a:r>
              <a:rPr lang="en-US" sz="1000" b="1" dirty="0">
                <a:latin typeface="Trebuchet MS" panose="020B0703020202090204" pitchFamily="34" charset="0"/>
              </a:rPr>
              <a:t> Invalid Input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7528729-A0E6-9F90-76CD-B59013D4CB89}"/>
              </a:ext>
            </a:extLst>
          </p:cNvPr>
          <p:cNvSpPr txBox="1"/>
          <p:nvPr/>
        </p:nvSpPr>
        <p:spPr>
          <a:xfrm>
            <a:off x="6086688" y="3228013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7C55A26-9A0E-3481-4412-8795249FA8E8}"/>
              </a:ext>
            </a:extLst>
          </p:cNvPr>
          <p:cNvSpPr txBox="1"/>
          <p:nvPr/>
        </p:nvSpPr>
        <p:spPr>
          <a:xfrm>
            <a:off x="6459811" y="3345426"/>
            <a:ext cx="7930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rebuchet MS" panose="020B0703020202090204" pitchFamily="34" charset="0"/>
              </a:rPr>
              <a:t>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25B7919-2CD7-185F-69C3-639C557D94AD}"/>
              </a:ext>
            </a:extLst>
          </p:cNvPr>
          <p:cNvSpPr txBox="1"/>
          <p:nvPr/>
        </p:nvSpPr>
        <p:spPr>
          <a:xfrm>
            <a:off x="7438293" y="3418999"/>
            <a:ext cx="945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Trebuchet MS" panose="020B0703020202090204" pitchFamily="34" charset="0"/>
              </a:rPr>
              <a:t>3 / 3</a:t>
            </a:r>
            <a:r>
              <a:rPr lang="en-US" sz="800" b="1" baseline="30000" dirty="0">
                <a:latin typeface="Trebuchet MS" panose="020B0703020202090204" pitchFamily="34" charset="0"/>
              </a:rPr>
              <a:t>rd</a:t>
            </a:r>
            <a:r>
              <a:rPr lang="en-US" sz="800" b="1" dirty="0">
                <a:latin typeface="Trebuchet MS" panose="020B0703020202090204" pitchFamily="34" charset="0"/>
              </a:rPr>
              <a:t> Invalid Input</a:t>
            </a:r>
          </a:p>
        </p:txBody>
      </p: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FC85D694-3601-5D91-CBBA-E68120A8746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01131" y="2831079"/>
            <a:ext cx="228600" cy="228600"/>
          </a:xfrm>
          <a:prstGeom prst="bentConnector4">
            <a:avLst>
              <a:gd name="adj1" fmla="val -100000"/>
              <a:gd name="adj2" fmla="val 200000"/>
            </a:avLst>
          </a:prstGeom>
          <a:ln>
            <a:solidFill>
              <a:srgbClr val="0034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682F1CF1-700B-C641-3F73-D2ED4C9D7EC2}"/>
              </a:ext>
            </a:extLst>
          </p:cNvPr>
          <p:cNvSpPr txBox="1"/>
          <p:nvPr/>
        </p:nvSpPr>
        <p:spPr>
          <a:xfrm>
            <a:off x="8121315" y="3117977"/>
            <a:ext cx="793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Trebuchet MS" panose="020B0703020202090204" pitchFamily="34" charset="0"/>
              </a:rPr>
              <a:t>No/Invalid Input (x2)</a:t>
            </a:r>
          </a:p>
        </p:txBody>
      </p:sp>
    </p:spTree>
    <p:extLst>
      <p:ext uri="{BB962C8B-B14F-4D97-AF65-F5344CB8AC3E}">
        <p14:creationId xmlns:p14="http://schemas.microsoft.com/office/powerpoint/2010/main" val="6844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9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10" grpId="0" animBg="1"/>
      <p:bldP spid="68" grpId="0" animBg="1"/>
      <p:bldP spid="69" grpId="0" animBg="1"/>
      <p:bldP spid="70" grpId="0" animBg="1"/>
      <p:bldP spid="80" grpId="0" animBg="1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E2B2E2-2EE5-FB5F-44E0-FEDEF1D0F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1608780"/>
            <a:ext cx="3926955" cy="27523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7DA1AF-A48A-0C1D-7C73-00A59D05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MENU REDESIGN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C87D6-B695-C24D-A6EF-A2F78F1BD38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622083"/>
            <a:ext cx="8229600" cy="545006"/>
          </a:xfrm>
        </p:spPr>
        <p:txBody>
          <a:bodyPr/>
          <a:lstStyle/>
          <a:p>
            <a:r>
              <a:rPr lang="en-US" dirty="0"/>
              <a:t>A substantial number of callers take over 30 seconds before making a selection, which can be reduced significantly via the proposed change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4F317-DD28-4B2E-7AA5-CFE08C673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C6A4DF-4D3B-BC45-80ED-C08AFE7CDDB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Sources: CAR Data</a:t>
            </a:r>
          </a:p>
        </p:txBody>
      </p:sp>
      <p:sp>
        <p:nvSpPr>
          <p:cNvPr id="7" name="Google Shape;90;p2">
            <a:extLst>
              <a:ext uri="{FF2B5EF4-FFF2-40B4-BE49-F238E27FC236}">
                <a16:creationId xmlns:a16="http://schemas.microsoft.com/office/drawing/2014/main" id="{466BD3AB-ABE8-6A8C-B3E1-28E146D5990F}"/>
              </a:ext>
            </a:extLst>
          </p:cNvPr>
          <p:cNvSpPr/>
          <p:nvPr/>
        </p:nvSpPr>
        <p:spPr>
          <a:xfrm>
            <a:off x="461961" y="1284083"/>
            <a:ext cx="3988118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Seconds Taken Old Flow</a:t>
            </a:r>
            <a:endParaRPr lang="en-US"/>
          </a:p>
        </p:txBody>
      </p:sp>
      <p:sp>
        <p:nvSpPr>
          <p:cNvPr id="8" name="Google Shape;90;p2">
            <a:extLst>
              <a:ext uri="{FF2B5EF4-FFF2-40B4-BE49-F238E27FC236}">
                <a16:creationId xmlns:a16="http://schemas.microsoft.com/office/drawing/2014/main" id="{CA921AA8-DFB6-E843-0FF2-B8A8A2D41707}"/>
              </a:ext>
            </a:extLst>
          </p:cNvPr>
          <p:cNvSpPr/>
          <p:nvPr/>
        </p:nvSpPr>
        <p:spPr>
          <a:xfrm>
            <a:off x="4698682" y="1284083"/>
            <a:ext cx="3988118" cy="247767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txBody>
          <a:bodyPr spcFirstLastPara="1" wrap="square" lIns="91425" tIns="18275" rIns="91425" bIns="27425" anchor="ctr" anchorCtr="1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  <a:latin typeface="Trebuchet MS"/>
                <a:sym typeface="Trebuchet MS"/>
              </a:rPr>
              <a:t>Estimated Seconds Taken New Flow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1ED41-D449-81C6-282A-A9B4974DCE8D}"/>
              </a:ext>
            </a:extLst>
          </p:cNvPr>
          <p:cNvSpPr/>
          <p:nvPr/>
        </p:nvSpPr>
        <p:spPr>
          <a:xfrm>
            <a:off x="464341" y="4622932"/>
            <a:ext cx="8222459" cy="1502859"/>
          </a:xfrm>
          <a:prstGeom prst="rect">
            <a:avLst/>
          </a:prstGeom>
          <a:ln w="19050">
            <a:solidFill>
              <a:srgbClr val="00345B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The new proposed menu is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20 seconds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shorter. So, instead of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11.3%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of callers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listening to the menu &gt;1 times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, this will be reduced to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5%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given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menu simplicity 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(assuming this is constant across issue type, this will save an average of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4.8 seconds</a:t>
            </a: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)</a:t>
            </a:r>
            <a:endParaRPr lang="en-US" sz="1100" b="1" dirty="0">
              <a:solidFill>
                <a:schemeClr val="tx1"/>
              </a:solidFill>
              <a:latin typeface="Trebuchet MS"/>
              <a:sym typeface="Trebuchet MS"/>
            </a:endParaRP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rebuchet MS"/>
                <a:sym typeface="Trebuchet MS"/>
              </a:rPr>
              <a:t>The </a:t>
            </a:r>
            <a:r>
              <a:rPr lang="en-US" sz="1100" b="1" dirty="0"/>
              <a:t>most frequently selected categories</a:t>
            </a:r>
            <a:r>
              <a:rPr lang="en-US" sz="1100" dirty="0"/>
              <a:t> are asked </a:t>
            </a:r>
            <a:r>
              <a:rPr lang="en-US" sz="1100" b="1" dirty="0"/>
              <a:t>first</a:t>
            </a:r>
            <a:r>
              <a:rPr lang="en-US" sz="1100" dirty="0"/>
              <a:t>, so</a:t>
            </a:r>
            <a:r>
              <a:rPr lang="en-US" sz="1100" b="1" dirty="0"/>
              <a:t> </a:t>
            </a:r>
            <a:r>
              <a:rPr lang="en-US" sz="1100" b="1" dirty="0">
                <a:solidFill>
                  <a:schemeClr val="tx1"/>
                </a:solidFill>
                <a:latin typeface="Trebuchet MS"/>
                <a:sym typeface="Trebuchet MS"/>
              </a:rPr>
              <a:t>95%*</a:t>
            </a:r>
            <a:r>
              <a:rPr lang="en-US" sz="1100" b="1" dirty="0"/>
              <a:t>83.5%=79.3%</a:t>
            </a:r>
            <a:r>
              <a:rPr lang="en-US" sz="1100" dirty="0"/>
              <a:t> of callers who fall into the main 4 categories &amp; </a:t>
            </a:r>
            <a:r>
              <a:rPr lang="en-US" sz="1100" b="1" dirty="0"/>
              <a:t>don’t listen</a:t>
            </a:r>
            <a:r>
              <a:rPr lang="en-US" sz="1100" dirty="0"/>
              <a:t> to the menu &gt;once will reach their selections an average of </a:t>
            </a:r>
            <a:r>
              <a:rPr lang="en-US" sz="1100" b="1" dirty="0"/>
              <a:t>15 seconds quicker </a:t>
            </a:r>
            <a:r>
              <a:rPr lang="en-US" sz="1100" dirty="0"/>
              <a:t>(Saving an avg of </a:t>
            </a:r>
            <a:r>
              <a:rPr lang="en-US" sz="1100" b="1" dirty="0"/>
              <a:t>11.9s</a:t>
            </a:r>
            <a:r>
              <a:rPr lang="en-US" sz="1100" dirty="0"/>
              <a:t>)</a:t>
            </a:r>
            <a:endParaRPr lang="en-US" sz="1100" b="1" dirty="0"/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/>
              <a:t>The remaining </a:t>
            </a:r>
            <a:r>
              <a:rPr lang="en-US" sz="1100" b="1" dirty="0"/>
              <a:t>95%*16.5%=15.7% </a:t>
            </a:r>
            <a:r>
              <a:rPr lang="en-US" sz="1100" dirty="0"/>
              <a:t>of callers who will go to </a:t>
            </a:r>
            <a:r>
              <a:rPr lang="en-US" sz="1100" b="1" dirty="0"/>
              <a:t>Other </a:t>
            </a:r>
            <a:r>
              <a:rPr lang="en-US" sz="1100" dirty="0"/>
              <a:t>without option repetition will save </a:t>
            </a:r>
            <a:r>
              <a:rPr lang="en-US" sz="1100" b="1" dirty="0"/>
              <a:t>0s </a:t>
            </a:r>
            <a:r>
              <a:rPr lang="en-US" sz="1100" dirty="0"/>
              <a:t>(as the </a:t>
            </a:r>
            <a:r>
              <a:rPr lang="en-US" sz="1100" b="1" dirty="0"/>
              <a:t>extra time spent selecting </a:t>
            </a:r>
            <a:r>
              <a:rPr lang="en-US" sz="1100" dirty="0"/>
              <a:t>an </a:t>
            </a:r>
            <a:r>
              <a:rPr lang="en-US" sz="1100" b="1" dirty="0"/>
              <a:t>extra node </a:t>
            </a:r>
            <a:r>
              <a:rPr lang="en-US" sz="1100" dirty="0"/>
              <a:t>will </a:t>
            </a:r>
            <a:r>
              <a:rPr lang="en-US" sz="1100" b="1" dirty="0"/>
              <a:t>balance out </a:t>
            </a:r>
            <a:r>
              <a:rPr lang="en-US" sz="1100" dirty="0"/>
              <a:t>the saved time from the </a:t>
            </a:r>
            <a:r>
              <a:rPr lang="en-US" sz="1100" b="1" dirty="0"/>
              <a:t>menu prioritizing highly-selected options</a:t>
            </a:r>
            <a:r>
              <a:rPr lang="en-US" sz="1100" dirty="0"/>
              <a:t>)</a:t>
            </a:r>
          </a:p>
          <a:p>
            <a:pPr marL="171450" indent="-17145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/>
              <a:t>So, the </a:t>
            </a:r>
            <a:r>
              <a:rPr lang="en-US" sz="1100" b="1" dirty="0"/>
              <a:t>overall average saved time across all callers </a:t>
            </a:r>
            <a:r>
              <a:rPr lang="en-US" sz="1100" dirty="0"/>
              <a:t>will be </a:t>
            </a:r>
            <a:r>
              <a:rPr lang="en-US" sz="1100" b="1" dirty="0"/>
              <a:t>4.8 seconds + 11.9 seconds = 16.7 seconds per caller, or 16.7*104,664 = 485.5 hours saved in total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4BCEA8-FD0F-D90F-2B46-81748CD35E7A}"/>
              </a:ext>
            </a:extLst>
          </p:cNvPr>
          <p:cNvSpPr/>
          <p:nvPr/>
        </p:nvSpPr>
        <p:spPr>
          <a:xfrm>
            <a:off x="471055" y="4590144"/>
            <a:ext cx="8215745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rebuchet MS" panose="020B0703020202090204" pitchFamily="34" charset="0"/>
              </a:rPr>
              <a:t>Key Assumptions For Estimated Seconds Taken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5088101-4E94-D5AC-C953-92318538BE41}"/>
              </a:ext>
            </a:extLst>
          </p:cNvPr>
          <p:cNvSpPr/>
          <p:nvPr/>
        </p:nvSpPr>
        <p:spPr>
          <a:xfrm>
            <a:off x="4506455" y="2752912"/>
            <a:ext cx="951480" cy="461914"/>
          </a:xfrm>
          <a:prstGeom prst="rightArrow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1DD774-1270-E61D-E2A8-636C01D34426}"/>
              </a:ext>
            </a:extLst>
          </p:cNvPr>
          <p:cNvSpPr/>
          <p:nvPr/>
        </p:nvSpPr>
        <p:spPr>
          <a:xfrm>
            <a:off x="5508354" y="2203185"/>
            <a:ext cx="2368774" cy="1561368"/>
          </a:xfrm>
          <a:prstGeom prst="rect">
            <a:avLst/>
          </a:prstGeom>
          <a:ln w="19050">
            <a:solidFill>
              <a:srgbClr val="00345B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b="1" dirty="0">
                <a:solidFill>
                  <a:schemeClr val="tx1"/>
                </a:solidFill>
                <a:latin typeface="Trebuchet MS"/>
                <a:sym typeface="Trebuchet MS"/>
              </a:rPr>
              <a:t>The average amount of time spent before selecting a final option will drop to 13.9 seconds, representing a 16.7-second or 45% improvement per caller!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3C1EB903-2EF5-A991-3288-B5213BF0C3A4}"/>
              </a:ext>
            </a:extLst>
          </p:cNvPr>
          <p:cNvSpPr/>
          <p:nvPr/>
        </p:nvSpPr>
        <p:spPr>
          <a:xfrm rot="16200000">
            <a:off x="1904593" y="2762164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13841369-AC22-2714-7826-90B8EB587918}"/>
              </a:ext>
            </a:extLst>
          </p:cNvPr>
          <p:cNvSpPr/>
          <p:nvPr/>
        </p:nvSpPr>
        <p:spPr>
          <a:xfrm rot="5400000">
            <a:off x="3195304" y="2762164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2C1809-53F5-0CEE-6A4D-DE740A3A7093}"/>
              </a:ext>
            </a:extLst>
          </p:cNvPr>
          <p:cNvSpPr/>
          <p:nvPr/>
        </p:nvSpPr>
        <p:spPr>
          <a:xfrm>
            <a:off x="3657404" y="2475871"/>
            <a:ext cx="704209" cy="461912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sz="900" b="1" dirty="0">
                <a:solidFill>
                  <a:schemeClr val="tx1"/>
                </a:solidFill>
                <a:latin typeface="Trebuchet MS"/>
                <a:sym typeface="Trebuchet MS"/>
              </a:rPr>
              <a:t>Will Stay Roughly The Same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098B5441-6E4E-CB9B-B323-F6B3F573F9BD}"/>
              </a:ext>
            </a:extLst>
          </p:cNvPr>
          <p:cNvSpPr/>
          <p:nvPr/>
        </p:nvSpPr>
        <p:spPr>
          <a:xfrm>
            <a:off x="1904593" y="3320488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2572B279-61BC-A4A2-3E19-EC51EAC25629}"/>
              </a:ext>
            </a:extLst>
          </p:cNvPr>
          <p:cNvSpPr/>
          <p:nvPr/>
        </p:nvSpPr>
        <p:spPr>
          <a:xfrm>
            <a:off x="3195304" y="3320488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EEFDFB-09AC-B4BB-78A3-7A2DFC85F894}"/>
              </a:ext>
            </a:extLst>
          </p:cNvPr>
          <p:cNvSpPr/>
          <p:nvPr/>
        </p:nvSpPr>
        <p:spPr>
          <a:xfrm>
            <a:off x="3456456" y="3402876"/>
            <a:ext cx="743782" cy="353876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sz="900" b="1">
                <a:solidFill>
                  <a:schemeClr val="tx1"/>
                </a:solidFill>
                <a:latin typeface="Trebuchet MS"/>
                <a:sym typeface="Trebuchet MS"/>
              </a:rPr>
              <a:t>Will Decrease</a:t>
            </a: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A95D1C9F-F61D-9006-9CAD-5AD16C373461}"/>
              </a:ext>
            </a:extLst>
          </p:cNvPr>
          <p:cNvSpPr/>
          <p:nvPr/>
        </p:nvSpPr>
        <p:spPr>
          <a:xfrm>
            <a:off x="2536358" y="3068541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54C621-FB22-06BB-9CC4-731E27EEF0D1}"/>
              </a:ext>
            </a:extLst>
          </p:cNvPr>
          <p:cNvSpPr/>
          <p:nvPr/>
        </p:nvSpPr>
        <p:spPr>
          <a:xfrm>
            <a:off x="3899774" y="2981465"/>
            <a:ext cx="743782" cy="353876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sz="900" b="1">
                <a:solidFill>
                  <a:schemeClr val="tx1"/>
                </a:solidFill>
                <a:latin typeface="Trebuchet MS"/>
                <a:sym typeface="Trebuchet MS"/>
              </a:rPr>
              <a:t>Will Decrease</a:t>
            </a:r>
          </a:p>
        </p:txBody>
      </p:sp>
      <p:sp>
        <p:nvSpPr>
          <p:cNvPr id="47" name="Down Arrow 46">
            <a:extLst>
              <a:ext uri="{FF2B5EF4-FFF2-40B4-BE49-F238E27FC236}">
                <a16:creationId xmlns:a16="http://schemas.microsoft.com/office/drawing/2014/main" id="{2905B5D5-F2EC-E7BD-57C0-BE796BA2059B}"/>
              </a:ext>
            </a:extLst>
          </p:cNvPr>
          <p:cNvSpPr/>
          <p:nvPr/>
        </p:nvSpPr>
        <p:spPr>
          <a:xfrm>
            <a:off x="1904593" y="2195108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>
            <a:extLst>
              <a:ext uri="{FF2B5EF4-FFF2-40B4-BE49-F238E27FC236}">
                <a16:creationId xmlns:a16="http://schemas.microsoft.com/office/drawing/2014/main" id="{10ABC192-89DE-B3AD-E41F-49BF9A8ECD65}"/>
              </a:ext>
            </a:extLst>
          </p:cNvPr>
          <p:cNvSpPr/>
          <p:nvPr/>
        </p:nvSpPr>
        <p:spPr>
          <a:xfrm>
            <a:off x="3195304" y="2195108"/>
            <a:ext cx="242047" cy="241069"/>
          </a:xfrm>
          <a:prstGeom prst="downArrow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BF49F2-9A86-D870-7CA6-8762B8D7A843}"/>
              </a:ext>
            </a:extLst>
          </p:cNvPr>
          <p:cNvSpPr/>
          <p:nvPr/>
        </p:nvSpPr>
        <p:spPr>
          <a:xfrm>
            <a:off x="3316323" y="2077609"/>
            <a:ext cx="743782" cy="353876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1200"/>
            </a:pPr>
            <a:r>
              <a:rPr lang="en-US" sz="900" b="1">
                <a:solidFill>
                  <a:schemeClr val="tx1"/>
                </a:solidFill>
                <a:latin typeface="Trebuchet MS"/>
                <a:sym typeface="Trebuchet MS"/>
              </a:rPr>
              <a:t>Will Decrease</a:t>
            </a:r>
          </a:p>
        </p:txBody>
      </p:sp>
    </p:spTree>
    <p:extLst>
      <p:ext uri="{BB962C8B-B14F-4D97-AF65-F5344CB8AC3E}">
        <p14:creationId xmlns:p14="http://schemas.microsoft.com/office/powerpoint/2010/main" val="421055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5" grpId="0" animBg="1"/>
      <p:bldP spid="14" grpId="0" animBg="1"/>
      <p:bldP spid="16" grpId="0" animBg="1"/>
      <p:bldP spid="17" grpId="0"/>
      <p:bldP spid="25" grpId="0" animBg="1"/>
      <p:bldP spid="26" grpId="0" animBg="1"/>
      <p:bldP spid="29" grpId="0"/>
      <p:bldP spid="36" grpId="0" animBg="1"/>
      <p:bldP spid="46" grpId="0"/>
      <p:bldP spid="47" grpId="0" animBg="1"/>
      <p:bldP spid="48" grpId="0" animBg="1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04684-E5BA-6015-5E05-8A344D41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CCDDB-F1B3-90B5-1889-C2B38034EFC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2EB899-B81B-4A6E-4A01-B14D40C6F65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By incorporating these changes, LAC will improve the experience of [UDPATE], saving an average of[UPDATE] seconds per caller affected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CB7348-0906-169C-6308-E4D64731A1CC}"/>
              </a:ext>
            </a:extLst>
          </p:cNvPr>
          <p:cNvSpPr/>
          <p:nvPr/>
        </p:nvSpPr>
        <p:spPr>
          <a:xfrm>
            <a:off x="461961" y="1284083"/>
            <a:ext cx="8224839" cy="274214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200" b="1" dirty="0"/>
              <a:t>Suggested Changes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1D6DDD-B15C-9BF7-AB8E-ADAFE37354E8}"/>
              </a:ext>
            </a:extLst>
          </p:cNvPr>
          <p:cNvSpPr txBox="1"/>
          <p:nvPr/>
        </p:nvSpPr>
        <p:spPr>
          <a:xfrm>
            <a:off x="1454493" y="1757022"/>
            <a:ext cx="6878068" cy="50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" tIns="36576" rIns="9144" bIns="365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 dirty="0"/>
              <a:t>Change 1:</a:t>
            </a:r>
            <a:r>
              <a:rPr lang="en-US" sz="1400" dirty="0"/>
              <a:t> </a:t>
            </a:r>
            <a:r>
              <a:rPr lang="en-US" dirty="0"/>
              <a:t>Reduce the number of options in the LegalMenu2 verbiage of the Legal Menu Call Flow 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E751E5-5E00-E4F1-10F0-29275F5F42A0}"/>
              </a:ext>
            </a:extLst>
          </p:cNvPr>
          <p:cNvSpPr/>
          <p:nvPr/>
        </p:nvSpPr>
        <p:spPr>
          <a:xfrm>
            <a:off x="464820" y="1667093"/>
            <a:ext cx="717565" cy="684612"/>
          </a:xfrm>
          <a:prstGeom prst="rect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8E249B-951D-8779-78DB-F7091EC63166}"/>
              </a:ext>
            </a:extLst>
          </p:cNvPr>
          <p:cNvSpPr/>
          <p:nvPr/>
        </p:nvSpPr>
        <p:spPr>
          <a:xfrm>
            <a:off x="464820" y="2460501"/>
            <a:ext cx="8217221" cy="51493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78E363-F36D-FB23-2F87-39E367319E1E}"/>
              </a:ext>
            </a:extLst>
          </p:cNvPr>
          <p:cNvSpPr/>
          <p:nvPr/>
        </p:nvSpPr>
        <p:spPr>
          <a:xfrm>
            <a:off x="455712" y="3414198"/>
            <a:ext cx="8217221" cy="51493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5B173-45E6-672A-6085-876EFE3731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E3CC6-8E07-A8D4-14F0-5BD0BA9D2990}"/>
              </a:ext>
            </a:extLst>
          </p:cNvPr>
          <p:cNvSpPr/>
          <p:nvPr/>
        </p:nvSpPr>
        <p:spPr>
          <a:xfrm>
            <a:off x="464820" y="4367896"/>
            <a:ext cx="8217221" cy="51493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4490C9-A082-BDEB-F363-BD0BEB791246}"/>
              </a:ext>
            </a:extLst>
          </p:cNvPr>
          <p:cNvSpPr txBox="1"/>
          <p:nvPr/>
        </p:nvSpPr>
        <p:spPr>
          <a:xfrm>
            <a:off x="1454493" y="2818441"/>
            <a:ext cx="6850348" cy="28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" tIns="36576" rIns="9144" bIns="365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/>
              <a:t>Change 2: </a:t>
            </a:r>
            <a:r>
              <a:rPr lang="en-US"/>
              <a:t>Enhance the verbiage of the </a:t>
            </a:r>
            <a:r>
              <a:rPr lang="en-US" err="1"/>
              <a:t>LegalHIV</a:t>
            </a:r>
            <a:r>
              <a:rPr lang="en-US"/>
              <a:t> Menu Option</a:t>
            </a:r>
            <a:endParaRPr lang="en-US" sz="1400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373635-115B-DEE9-BAA7-DFBD69A4AE87}"/>
              </a:ext>
            </a:extLst>
          </p:cNvPr>
          <p:cNvSpPr/>
          <p:nvPr/>
        </p:nvSpPr>
        <p:spPr>
          <a:xfrm>
            <a:off x="466945" y="2620790"/>
            <a:ext cx="717565" cy="684612"/>
          </a:xfrm>
          <a:prstGeom prst="rect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/>
              <a:t>2</a:t>
            </a: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A63E41-82B5-1BE8-AA63-1564055BC2FC}"/>
              </a:ext>
            </a:extLst>
          </p:cNvPr>
          <p:cNvSpPr txBox="1"/>
          <p:nvPr/>
        </p:nvSpPr>
        <p:spPr>
          <a:xfrm>
            <a:off x="1454493" y="3636512"/>
            <a:ext cx="6800175" cy="50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" tIns="36576" rIns="9144" bIns="365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 dirty="0"/>
              <a:t>Change 3: </a:t>
            </a:r>
            <a:r>
              <a:rPr lang="en-US" dirty="0"/>
              <a:t>Reduce the number of options in the </a:t>
            </a:r>
            <a:r>
              <a:rPr lang="en-US" dirty="0" err="1"/>
              <a:t>MainMenu</a:t>
            </a:r>
            <a:r>
              <a:rPr lang="en-US" dirty="0"/>
              <a:t> verbiage, combine the 2 options to get to Staff Directory into one statement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BB79C1-AC10-7F3E-359C-47F0D9CBAA08}"/>
              </a:ext>
            </a:extLst>
          </p:cNvPr>
          <p:cNvSpPr/>
          <p:nvPr/>
        </p:nvSpPr>
        <p:spPr>
          <a:xfrm>
            <a:off x="469070" y="3574488"/>
            <a:ext cx="717565" cy="684612"/>
          </a:xfrm>
          <a:prstGeom prst="rect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cs typeface="Arial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ADE3C-6940-FC1A-6222-8A3494ACF426}"/>
              </a:ext>
            </a:extLst>
          </p:cNvPr>
          <p:cNvSpPr txBox="1"/>
          <p:nvPr/>
        </p:nvSpPr>
        <p:spPr>
          <a:xfrm>
            <a:off x="1454493" y="4618115"/>
            <a:ext cx="6800175" cy="50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" tIns="36576" rIns="9144" bIns="365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 dirty="0"/>
              <a:t>Change 4: </a:t>
            </a:r>
            <a:r>
              <a:rPr lang="en-US" dirty="0"/>
              <a:t>Asking age and residence questions before queuing, and removing the Pre-Legal Seniors and Seniors Confirmation Menus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[UPDATE]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8DFBC3-C712-B242-0985-616F98102B85}"/>
              </a:ext>
            </a:extLst>
          </p:cNvPr>
          <p:cNvSpPr/>
          <p:nvPr/>
        </p:nvSpPr>
        <p:spPr>
          <a:xfrm>
            <a:off x="471195" y="4528186"/>
            <a:ext cx="717565" cy="684612"/>
          </a:xfrm>
          <a:prstGeom prst="rect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cs typeface="Arial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B05DA4-C1CB-3E06-42BE-C8483B7DBA05}"/>
              </a:ext>
            </a:extLst>
          </p:cNvPr>
          <p:cNvSpPr/>
          <p:nvPr/>
        </p:nvSpPr>
        <p:spPr>
          <a:xfrm>
            <a:off x="466945" y="5321595"/>
            <a:ext cx="8217221" cy="51493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9E5704-9768-7465-C7D7-E4C317437AA1}"/>
              </a:ext>
            </a:extLst>
          </p:cNvPr>
          <p:cNvSpPr/>
          <p:nvPr/>
        </p:nvSpPr>
        <p:spPr>
          <a:xfrm>
            <a:off x="473320" y="5481885"/>
            <a:ext cx="717565" cy="684612"/>
          </a:xfrm>
          <a:prstGeom prst="rect">
            <a:avLst/>
          </a:prstGeom>
          <a:solidFill>
            <a:srgbClr val="F73C1B"/>
          </a:solidFill>
          <a:ln>
            <a:solidFill>
              <a:srgbClr val="0034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cs typeface="Arial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8E910-D597-0326-209F-140369E54371}"/>
              </a:ext>
            </a:extLst>
          </p:cNvPr>
          <p:cNvSpPr txBox="1"/>
          <p:nvPr/>
        </p:nvSpPr>
        <p:spPr>
          <a:xfrm>
            <a:off x="1454493" y="5571814"/>
            <a:ext cx="6800175" cy="50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" tIns="36576" rIns="9144" bIns="36576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 dirty="0"/>
              <a:t>Change </a:t>
            </a:r>
            <a:r>
              <a:rPr lang="en-US" b="1" dirty="0"/>
              <a:t>5</a:t>
            </a:r>
            <a:r>
              <a:rPr lang="en-US" sz="1400" b="1" dirty="0"/>
              <a:t>: </a:t>
            </a:r>
            <a:r>
              <a:rPr lang="en-US" dirty="0"/>
              <a:t>Moving up the Holiday and Open Hours check in LAC Main, and removing redundant checks in subsequent menus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[UPDATE]</a:t>
            </a:r>
            <a:endParaRPr 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85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6" grpId="0" animBg="1"/>
      <p:bldP spid="37" grpId="0" animBg="1"/>
      <p:bldP spid="8" grpId="0" animBg="1"/>
      <p:bldP spid="35" grpId="0"/>
      <p:bldP spid="10" grpId="0" animBg="1"/>
      <p:bldP spid="33" grpId="0"/>
      <p:bldP spid="12" grpId="0" animBg="1"/>
      <p:bldP spid="4" grpId="0"/>
      <p:bldP spid="14" grpId="0" animBg="1"/>
      <p:bldP spid="16" grpId="0" animBg="1"/>
      <p:bldP spid="18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FCF4B-FF01-0671-77EA-1BD75DC048E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9327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F0A45-4000-BEF9-1600-F04F35AA6FE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93311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A1B1-2B66-F800-4438-B2AAD4B4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MENU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A9D94-85B3-E12B-2A43-C596F3CC323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Legal Menu Number Calculations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DB804-5144-C4F3-95AF-E9E8401B96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F551A1-B3B6-7485-CB26-7C3561D1EDE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FC0FA1-65D1-20A0-03AF-F9DE1C01974B}"/>
              </a:ext>
            </a:extLst>
          </p:cNvPr>
          <p:cNvSpPr/>
          <p:nvPr/>
        </p:nvSpPr>
        <p:spPr>
          <a:xfrm>
            <a:off x="461961" y="1284083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36.6% of callers reach LegalMenu2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611A31-06A4-CC7E-D27F-F91C9F706A45}"/>
              </a:ext>
            </a:extLst>
          </p:cNvPr>
          <p:cNvSpPr/>
          <p:nvPr/>
        </p:nvSpPr>
        <p:spPr>
          <a:xfrm>
            <a:off x="461961" y="1552846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# of Callers that reach LegalMenu2 / Total # of Callers</a:t>
            </a:r>
          </a:p>
          <a:p>
            <a:pPr algn="ctr"/>
            <a:r>
              <a:rPr lang="en-US" sz="1000" dirty="0"/>
              <a:t>= 57,538 / 157,360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4ADA4E-BC1F-0F41-1747-BC18EAA11E45}"/>
              </a:ext>
            </a:extLst>
          </p:cNvPr>
          <p:cNvSpPr/>
          <p:nvPr/>
        </p:nvSpPr>
        <p:spPr>
          <a:xfrm>
            <a:off x="4663440" y="1284083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13.9% of those who go to the LegalMenu2 listen more than 1 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7A304E-F0C8-007C-2D46-CBEAF971AEC5}"/>
              </a:ext>
            </a:extLst>
          </p:cNvPr>
          <p:cNvSpPr/>
          <p:nvPr/>
        </p:nvSpPr>
        <p:spPr>
          <a:xfrm>
            <a:off x="4663440" y="1552846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# of callers listening &gt; 1 time / Total legalMenu2 Callers</a:t>
            </a:r>
          </a:p>
          <a:p>
            <a:pPr algn="ctr"/>
            <a:r>
              <a:rPr lang="en-US" sz="1000" dirty="0"/>
              <a:t>= 8,008 / </a:t>
            </a:r>
            <a:r>
              <a:rPr lang="en-US" sz="1100" dirty="0"/>
              <a:t>57,538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D2DEF-2471-8593-C274-010ED2C1546A}"/>
              </a:ext>
            </a:extLst>
          </p:cNvPr>
          <p:cNvSpPr/>
          <p:nvPr/>
        </p:nvSpPr>
        <p:spPr>
          <a:xfrm>
            <a:off x="461961" y="2308209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The average # of times a person listens to LegalMenu2 is 1.2 times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E7C66-7076-B7C2-EFEC-64B0A8D8472E}"/>
              </a:ext>
            </a:extLst>
          </p:cNvPr>
          <p:cNvSpPr/>
          <p:nvPr/>
        </p:nvSpPr>
        <p:spPr>
          <a:xfrm>
            <a:off x="461961" y="2576972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# of times listened to / Total # of legalMenu2 goers</a:t>
            </a:r>
          </a:p>
          <a:p>
            <a:pPr algn="ctr"/>
            <a:r>
              <a:rPr lang="en-US" sz="1000" dirty="0"/>
              <a:t>= 68,975 / 57,538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AE68A3-557D-B429-CBCB-99A740FD98D5}"/>
              </a:ext>
            </a:extLst>
          </p:cNvPr>
          <p:cNvSpPr/>
          <p:nvPr/>
        </p:nvSpPr>
        <p:spPr>
          <a:xfrm>
            <a:off x="4663440" y="2308209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Avg time to make selection on LegalMenu2 is 1 min 22 seconds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6D2CC5-3554-21FC-C8FE-3269D8956AFB}"/>
              </a:ext>
            </a:extLst>
          </p:cNvPr>
          <p:cNvSpPr/>
          <p:nvPr/>
        </p:nvSpPr>
        <p:spPr>
          <a:xfrm>
            <a:off x="4663440" y="2576972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total seconds taken / number of legalmenu2 goers</a:t>
            </a:r>
          </a:p>
          <a:p>
            <a:pPr algn="ctr"/>
            <a:r>
              <a:rPr lang="en-US" sz="1000" dirty="0"/>
              <a:t>= 4,238,580s / 51,955 non-null listeners = 82s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59FE16-B0AB-CE89-C93A-AF96C4780FBD}"/>
              </a:ext>
            </a:extLst>
          </p:cNvPr>
          <p:cNvSpPr/>
          <p:nvPr/>
        </p:nvSpPr>
        <p:spPr>
          <a:xfrm>
            <a:off x="461961" y="3332335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The new proposed menu is 53 seconds shorter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83E7DF-2833-4C64-28FA-68ED25892CCB}"/>
              </a:ext>
            </a:extLst>
          </p:cNvPr>
          <p:cNvSpPr/>
          <p:nvPr/>
        </p:nvSpPr>
        <p:spPr>
          <a:xfrm>
            <a:off x="461961" y="3601098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This was found by timing the menu options via a test call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9BF18F-6143-8A43-E4A4-8486C798ECF9}"/>
              </a:ext>
            </a:extLst>
          </p:cNvPr>
          <p:cNvSpPr/>
          <p:nvPr/>
        </p:nvSpPr>
        <p:spPr>
          <a:xfrm>
            <a:off x="4663440" y="3332335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# of callers listening &gt; 1 will reduce to 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AD089C-AADC-A6EB-5A36-AB91A0E010FB}"/>
              </a:ext>
            </a:extLst>
          </p:cNvPr>
          <p:cNvSpPr/>
          <p:nvPr/>
        </p:nvSpPr>
        <p:spPr>
          <a:xfrm>
            <a:off x="4663440" y="3601098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Assumption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460556-ED04-A0B0-4F60-E9D83EE7BE13}"/>
              </a:ext>
            </a:extLst>
          </p:cNvPr>
          <p:cNvSpPr/>
          <p:nvPr/>
        </p:nvSpPr>
        <p:spPr>
          <a:xfrm>
            <a:off x="461961" y="4356461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An average of 13.6 seconds will be saved via 5% listening &gt; 1 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A6B5F9-579F-711B-9D5B-17D81C8EB4D7}"/>
              </a:ext>
            </a:extLst>
          </p:cNvPr>
          <p:cNvSpPr/>
          <p:nvPr/>
        </p:nvSpPr>
        <p:spPr>
          <a:xfrm>
            <a:off x="461961" y="4625224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288" bIns="27432" rtlCol="0" anchor="ctr" anchorCtr="1"/>
          <a:lstStyle/>
          <a:p>
            <a:pPr algn="ctr"/>
            <a:r>
              <a:rPr lang="en-US" sz="1000" dirty="0"/>
              <a:t>Formula: 13.9% (perc who listen to legalMenu2 more than 1 time)*123s (old menu length) - 5% * 70s (new menu length)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BC3967-CD45-F931-C9E2-F4FF7D74F3A9}"/>
              </a:ext>
            </a:extLst>
          </p:cNvPr>
          <p:cNvSpPr/>
          <p:nvPr/>
        </p:nvSpPr>
        <p:spPr>
          <a:xfrm>
            <a:off x="4663440" y="4356461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Most frequent category callers will save an avg of 20 seconds per call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7A4EC7-B2D7-4798-5A32-130CA9975524}"/>
              </a:ext>
            </a:extLst>
          </p:cNvPr>
          <p:cNvSpPr/>
          <p:nvPr/>
        </p:nvSpPr>
        <p:spPr>
          <a:xfrm>
            <a:off x="4663440" y="4625224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Assumption based on the verbiage saved via rearrangement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B3352A-AB1C-5585-5D23-1ACE501D290D}"/>
              </a:ext>
            </a:extLst>
          </p:cNvPr>
          <p:cNvSpPr/>
          <p:nvPr/>
        </p:nvSpPr>
        <p:spPr>
          <a:xfrm>
            <a:off x="461961" y="5380587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An average of 12.4s will be saved for the most frequent category callers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DE0C84-2252-9E5F-C235-C6D9B6A30B38}"/>
              </a:ext>
            </a:extLst>
          </p:cNvPr>
          <p:cNvSpPr/>
          <p:nvPr/>
        </p:nvSpPr>
        <p:spPr>
          <a:xfrm>
            <a:off x="461961" y="5649354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288" bIns="27432" rtlCol="0" anchor="ctr" anchorCtr="1"/>
          <a:lstStyle/>
          <a:p>
            <a:pPr algn="ctr"/>
            <a:r>
              <a:rPr lang="en-US" sz="1000" dirty="0"/>
              <a:t>Formula: 95% (people not listening &gt;1 time)*65% (% of callers in main categories)*20 seconds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0EA41B-0DEA-4215-72D9-84C0B36EE481}"/>
              </a:ext>
            </a:extLst>
          </p:cNvPr>
          <p:cNvSpPr/>
          <p:nvPr/>
        </p:nvSpPr>
        <p:spPr>
          <a:xfrm>
            <a:off x="4663440" y="5380587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overall average saved time across all callers will be 26 seconds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EE8FF0-1735-A9B2-42AE-D47244805285}"/>
              </a:ext>
            </a:extLst>
          </p:cNvPr>
          <p:cNvSpPr/>
          <p:nvPr/>
        </p:nvSpPr>
        <p:spPr>
          <a:xfrm>
            <a:off x="4663440" y="5649354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288" bIns="27432" rtlCol="0" anchor="ctr" anchorCtr="1"/>
          <a:lstStyle/>
          <a:p>
            <a:pPr algn="ctr"/>
            <a:r>
              <a:rPr lang="en-US" sz="1000" dirty="0"/>
              <a:t>13.6s saved via repeating options less on a smaller menu + 12.4s saved via rearrangement</a:t>
            </a:r>
          </a:p>
        </p:txBody>
      </p:sp>
    </p:spTree>
    <p:extLst>
      <p:ext uri="{BB962C8B-B14F-4D97-AF65-F5344CB8AC3E}">
        <p14:creationId xmlns:p14="http://schemas.microsoft.com/office/powerpoint/2010/main" val="439481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A1B1-2B66-F800-4438-B2AAD4B4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MENU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A9D94-85B3-E12B-2A43-C596F3CC323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Legal Menu Number Calculations (Cont.)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DB804-5144-C4F3-95AF-E9E8401B96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F551A1-B3B6-7485-CB26-7C3561D1EDE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FC0FA1-65D1-20A0-03AF-F9DE1C01974B}"/>
              </a:ext>
            </a:extLst>
          </p:cNvPr>
          <p:cNvSpPr/>
          <p:nvPr/>
        </p:nvSpPr>
        <p:spPr>
          <a:xfrm>
            <a:off x="461961" y="1284083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19.2% of </a:t>
            </a:r>
            <a:r>
              <a:rPr lang="en-US" sz="1000" dirty="0" err="1"/>
              <a:t>HIVMenu</a:t>
            </a:r>
            <a:r>
              <a:rPr lang="en-US" sz="1000" dirty="0"/>
              <a:t> Goers go right back to LegalMenu2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611A31-06A4-CC7E-D27F-F91C9F706A45}"/>
              </a:ext>
            </a:extLst>
          </p:cNvPr>
          <p:cNvSpPr/>
          <p:nvPr/>
        </p:nvSpPr>
        <p:spPr>
          <a:xfrm>
            <a:off x="461961" y="1552846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# of callers going back to LegalMenu2 / Total HIV Callers</a:t>
            </a:r>
          </a:p>
          <a:p>
            <a:pPr algn="ctr"/>
            <a:r>
              <a:rPr lang="en-US" sz="1000" dirty="0"/>
              <a:t>= 236 / 1,229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8CF3CE-E814-2462-BAA0-FBBB3AEBC73E}"/>
              </a:ext>
            </a:extLst>
          </p:cNvPr>
          <p:cNvSpPr/>
          <p:nvPr/>
        </p:nvSpPr>
        <p:spPr>
          <a:xfrm>
            <a:off x="4663440" y="1284083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 err="1"/>
              <a:t>LegalHousing</a:t>
            </a:r>
            <a:r>
              <a:rPr lang="en-US" sz="1000" dirty="0"/>
              <a:t> Menu has ~12% of callers going back to </a:t>
            </a:r>
            <a:r>
              <a:rPr lang="en-US" sz="1000" dirty="0" err="1"/>
              <a:t>LegalMenu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8FEDCC-8967-EBF4-6270-B65FF4447767}"/>
              </a:ext>
            </a:extLst>
          </p:cNvPr>
          <p:cNvSpPr/>
          <p:nvPr/>
        </p:nvSpPr>
        <p:spPr>
          <a:xfrm>
            <a:off x="4663440" y="1552846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# callers repeating LegalMenu2 / Total </a:t>
            </a:r>
            <a:r>
              <a:rPr lang="en-US" sz="1000" dirty="0" err="1"/>
              <a:t>LegalHousing</a:t>
            </a:r>
            <a:r>
              <a:rPr lang="en-US" sz="1000" dirty="0"/>
              <a:t> Callers</a:t>
            </a:r>
          </a:p>
          <a:p>
            <a:pPr algn="ctr"/>
            <a:r>
              <a:rPr lang="en-US" sz="1000" dirty="0"/>
              <a:t>= 1,310 / 10,950</a:t>
            </a:r>
          </a:p>
        </p:txBody>
      </p:sp>
    </p:spTree>
    <p:extLst>
      <p:ext uri="{BB962C8B-B14F-4D97-AF65-F5344CB8AC3E}">
        <p14:creationId xmlns:p14="http://schemas.microsoft.com/office/powerpoint/2010/main" val="2358281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A1B1-2B66-F800-4438-B2AAD4B46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MENU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A9D94-85B3-E12B-2A43-C596F3CC323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Main Menu Number Calculations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DB804-5144-C4F3-95AF-E9E8401B96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F551A1-B3B6-7485-CB26-7C3561D1EDE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FC0FA1-65D1-20A0-03AF-F9DE1C01974B}"/>
              </a:ext>
            </a:extLst>
          </p:cNvPr>
          <p:cNvSpPr/>
          <p:nvPr/>
        </p:nvSpPr>
        <p:spPr>
          <a:xfrm>
            <a:off x="461961" y="1284083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66.5% of callers reach </a:t>
            </a:r>
            <a:r>
              <a:rPr lang="en-US" sz="1000" dirty="0" err="1"/>
              <a:t>MainMenu</a:t>
            </a:r>
            <a:endParaRPr lang="en-US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611A31-06A4-CC7E-D27F-F91C9F706A45}"/>
              </a:ext>
            </a:extLst>
          </p:cNvPr>
          <p:cNvSpPr/>
          <p:nvPr/>
        </p:nvSpPr>
        <p:spPr>
          <a:xfrm>
            <a:off x="461961" y="1552846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# of Callers that reach </a:t>
            </a:r>
            <a:r>
              <a:rPr lang="en-US" sz="1000" dirty="0" err="1"/>
              <a:t>MainMenu</a:t>
            </a:r>
            <a:r>
              <a:rPr lang="en-US" sz="1000" dirty="0"/>
              <a:t> / Total # of Callers</a:t>
            </a:r>
          </a:p>
          <a:p>
            <a:pPr algn="ctr"/>
            <a:r>
              <a:rPr lang="en-US" sz="1000" dirty="0"/>
              <a:t>= 104,664 / 157,360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4ADA4E-BC1F-0F41-1747-BC18EAA11E45}"/>
              </a:ext>
            </a:extLst>
          </p:cNvPr>
          <p:cNvSpPr/>
          <p:nvPr/>
        </p:nvSpPr>
        <p:spPr>
          <a:xfrm>
            <a:off x="4663440" y="1284083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11.3% of those who go to the </a:t>
            </a:r>
            <a:r>
              <a:rPr lang="en-US" sz="1000" dirty="0" err="1"/>
              <a:t>MainMenu</a:t>
            </a:r>
            <a:r>
              <a:rPr lang="en-US" sz="1000" dirty="0"/>
              <a:t> listen more than 1 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7A304E-F0C8-007C-2D46-CBEAF971AEC5}"/>
              </a:ext>
            </a:extLst>
          </p:cNvPr>
          <p:cNvSpPr/>
          <p:nvPr/>
        </p:nvSpPr>
        <p:spPr>
          <a:xfrm>
            <a:off x="4663440" y="1552846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# of callers listening &gt; 1 time / Total </a:t>
            </a:r>
            <a:r>
              <a:rPr lang="en-US" sz="1000" dirty="0" err="1"/>
              <a:t>MainMenu</a:t>
            </a:r>
            <a:r>
              <a:rPr lang="en-US" sz="1000" dirty="0"/>
              <a:t> Callers</a:t>
            </a:r>
          </a:p>
          <a:p>
            <a:pPr algn="ctr"/>
            <a:r>
              <a:rPr lang="en-US" sz="1000" dirty="0"/>
              <a:t>= 11,780 / </a:t>
            </a:r>
            <a:r>
              <a:rPr lang="en-US" sz="1100" dirty="0"/>
              <a:t>104,664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D2DEF-2471-8593-C274-010ED2C1546A}"/>
              </a:ext>
            </a:extLst>
          </p:cNvPr>
          <p:cNvSpPr/>
          <p:nvPr/>
        </p:nvSpPr>
        <p:spPr>
          <a:xfrm>
            <a:off x="461961" y="2308209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The average # of times a person listens to </a:t>
            </a:r>
            <a:r>
              <a:rPr lang="en-US" sz="1000" dirty="0" err="1"/>
              <a:t>MainMenu</a:t>
            </a:r>
            <a:r>
              <a:rPr lang="en-US" sz="1000" dirty="0"/>
              <a:t> is 1.1 times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E7C66-7076-B7C2-EFEC-64B0A8D8472E}"/>
              </a:ext>
            </a:extLst>
          </p:cNvPr>
          <p:cNvSpPr/>
          <p:nvPr/>
        </p:nvSpPr>
        <p:spPr>
          <a:xfrm>
            <a:off x="461961" y="2576972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# of times listened to / Total # of </a:t>
            </a:r>
            <a:r>
              <a:rPr lang="en-US" sz="1000" dirty="0" err="1"/>
              <a:t>MainMenu</a:t>
            </a:r>
            <a:r>
              <a:rPr lang="en-US" sz="1000" dirty="0"/>
              <a:t> goers</a:t>
            </a:r>
          </a:p>
          <a:p>
            <a:pPr algn="ctr"/>
            <a:r>
              <a:rPr lang="en-US" sz="1000" dirty="0"/>
              <a:t>= 118,612 / 104,664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AE68A3-557D-B429-CBCB-99A740FD98D5}"/>
              </a:ext>
            </a:extLst>
          </p:cNvPr>
          <p:cNvSpPr/>
          <p:nvPr/>
        </p:nvSpPr>
        <p:spPr>
          <a:xfrm>
            <a:off x="4663440" y="2308209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Avg time to make selection on </a:t>
            </a:r>
            <a:r>
              <a:rPr lang="en-US" sz="1000" dirty="0" err="1"/>
              <a:t>MainMenu</a:t>
            </a:r>
            <a:r>
              <a:rPr lang="en-US" sz="1000" dirty="0"/>
              <a:t> is 30.6 seconds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6D2CC5-3554-21FC-C8FE-3269D8956AFB}"/>
              </a:ext>
            </a:extLst>
          </p:cNvPr>
          <p:cNvSpPr/>
          <p:nvPr/>
        </p:nvSpPr>
        <p:spPr>
          <a:xfrm>
            <a:off x="4663440" y="2576972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Formula: total seconds taken / number in </a:t>
            </a:r>
            <a:r>
              <a:rPr lang="en-US" sz="1000" dirty="0" err="1"/>
              <a:t>MainMenu</a:t>
            </a:r>
            <a:r>
              <a:rPr lang="en-US" sz="1000" dirty="0"/>
              <a:t> sample</a:t>
            </a:r>
          </a:p>
          <a:p>
            <a:pPr algn="ctr"/>
            <a:r>
              <a:rPr lang="en-US" sz="1000" dirty="0"/>
              <a:t>= 29,706s / 971 non-null listeners = 30.6s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59FE16-B0AB-CE89-C93A-AF96C4780FBD}"/>
              </a:ext>
            </a:extLst>
          </p:cNvPr>
          <p:cNvSpPr/>
          <p:nvPr/>
        </p:nvSpPr>
        <p:spPr>
          <a:xfrm>
            <a:off x="461961" y="3332335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The new proposed menu is 20 seconds shorter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83E7DF-2833-4C64-28FA-68ED25892CCB}"/>
              </a:ext>
            </a:extLst>
          </p:cNvPr>
          <p:cNvSpPr/>
          <p:nvPr/>
        </p:nvSpPr>
        <p:spPr>
          <a:xfrm>
            <a:off x="461961" y="3601098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This was found by timing the menu options via a test call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9BF18F-6143-8A43-E4A4-8486C798ECF9}"/>
              </a:ext>
            </a:extLst>
          </p:cNvPr>
          <p:cNvSpPr/>
          <p:nvPr/>
        </p:nvSpPr>
        <p:spPr>
          <a:xfrm>
            <a:off x="4663440" y="3332335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# of callers listening &gt; 1 will reduce to 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AD089C-AADC-A6EB-5A36-AB91A0E010FB}"/>
              </a:ext>
            </a:extLst>
          </p:cNvPr>
          <p:cNvSpPr/>
          <p:nvPr/>
        </p:nvSpPr>
        <p:spPr>
          <a:xfrm>
            <a:off x="4663440" y="3601098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Assumption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460556-ED04-A0B0-4F60-E9D83EE7BE13}"/>
              </a:ext>
            </a:extLst>
          </p:cNvPr>
          <p:cNvSpPr/>
          <p:nvPr/>
        </p:nvSpPr>
        <p:spPr>
          <a:xfrm>
            <a:off x="461961" y="4356461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An average of 4.8 seconds will be saved via 5% listening &gt; 1 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A6B5F9-579F-711B-9D5B-17D81C8EB4D7}"/>
              </a:ext>
            </a:extLst>
          </p:cNvPr>
          <p:cNvSpPr/>
          <p:nvPr/>
        </p:nvSpPr>
        <p:spPr>
          <a:xfrm>
            <a:off x="461961" y="4625224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288" bIns="27432" rtlCol="0" anchor="ctr" anchorCtr="1"/>
          <a:lstStyle/>
          <a:p>
            <a:pPr algn="ctr"/>
            <a:r>
              <a:rPr lang="en-US" sz="1000" dirty="0"/>
              <a:t>Formula: 11.3% (perc who listen to </a:t>
            </a:r>
            <a:r>
              <a:rPr lang="en-US" sz="1000" dirty="0" err="1"/>
              <a:t>MainMenu</a:t>
            </a:r>
            <a:r>
              <a:rPr lang="en-US" sz="1000" dirty="0"/>
              <a:t> more than 1 time)*60s (old menu length) - 5% * 40s (new menu length)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BC3967-CD45-F931-C9E2-F4FF7D74F3A9}"/>
              </a:ext>
            </a:extLst>
          </p:cNvPr>
          <p:cNvSpPr/>
          <p:nvPr/>
        </p:nvSpPr>
        <p:spPr>
          <a:xfrm>
            <a:off x="4663440" y="4356461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Most frequent category callers will save an avg of 15 seconds per call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7A4EC7-B2D7-4798-5A32-130CA9975524}"/>
              </a:ext>
            </a:extLst>
          </p:cNvPr>
          <p:cNvSpPr/>
          <p:nvPr/>
        </p:nvSpPr>
        <p:spPr>
          <a:xfrm>
            <a:off x="4663440" y="4625224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Assumption based on the verbiage saved via rearrangement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B3352A-AB1C-5585-5D23-1ACE501D290D}"/>
              </a:ext>
            </a:extLst>
          </p:cNvPr>
          <p:cNvSpPr/>
          <p:nvPr/>
        </p:nvSpPr>
        <p:spPr>
          <a:xfrm>
            <a:off x="461961" y="5380587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An average of 11.9s will be saved for the most frequent category callers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DE0C84-2252-9E5F-C235-C6D9B6A30B38}"/>
              </a:ext>
            </a:extLst>
          </p:cNvPr>
          <p:cNvSpPr/>
          <p:nvPr/>
        </p:nvSpPr>
        <p:spPr>
          <a:xfrm>
            <a:off x="461961" y="5649354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288" bIns="27432" rtlCol="0" anchor="ctr" anchorCtr="1"/>
          <a:lstStyle/>
          <a:p>
            <a:pPr algn="ctr"/>
            <a:r>
              <a:rPr lang="en-US" sz="1000" dirty="0"/>
              <a:t>Formula: 95% (people not listening &gt;1 time)*83.5% (% of callers in main categories)*15 seconds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0EA41B-0DEA-4215-72D9-84C0B36EE481}"/>
              </a:ext>
            </a:extLst>
          </p:cNvPr>
          <p:cNvSpPr/>
          <p:nvPr/>
        </p:nvSpPr>
        <p:spPr>
          <a:xfrm>
            <a:off x="4663440" y="5380587"/>
            <a:ext cx="4023360" cy="274214"/>
          </a:xfrm>
          <a:prstGeom prst="rect">
            <a:avLst/>
          </a:prstGeom>
          <a:solidFill>
            <a:srgbClr val="F73C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27432" rtlCol="0" anchor="ctr" anchorCtr="1"/>
          <a:lstStyle/>
          <a:p>
            <a:pPr algn="ctr"/>
            <a:r>
              <a:rPr lang="en-US" sz="1000" dirty="0"/>
              <a:t>overall average saved time across all callers will be 16.7 seconds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EE8FF0-1735-A9B2-42AE-D47244805285}"/>
              </a:ext>
            </a:extLst>
          </p:cNvPr>
          <p:cNvSpPr/>
          <p:nvPr/>
        </p:nvSpPr>
        <p:spPr>
          <a:xfrm>
            <a:off x="4663440" y="5649354"/>
            <a:ext cx="4023360" cy="548640"/>
          </a:xfrm>
          <a:prstGeom prst="rect">
            <a:avLst/>
          </a:prstGeom>
          <a:solidFill>
            <a:srgbClr val="00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8288" bIns="27432" rtlCol="0" anchor="ctr" anchorCtr="1"/>
          <a:lstStyle/>
          <a:p>
            <a:pPr algn="ctr"/>
            <a:r>
              <a:rPr lang="en-US" sz="1000" dirty="0"/>
              <a:t>4.8s saved via repeating options less on a smaller menu + 11.9s saved via rearrangement</a:t>
            </a:r>
          </a:p>
        </p:txBody>
      </p:sp>
    </p:spTree>
    <p:extLst>
      <p:ext uri="{BB962C8B-B14F-4D97-AF65-F5344CB8AC3E}">
        <p14:creationId xmlns:p14="http://schemas.microsoft.com/office/powerpoint/2010/main" val="22819860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JN_IMG_Master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e3c6cf-1e93-460d-a8ad-cd72f9f7b48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E9FB77BB93CA43ACAD229C170736E2" ma:contentTypeVersion="7" ma:contentTypeDescription="Create a new document." ma:contentTypeScope="" ma:versionID="2c8c56ed8b10301ed7f0f9c5c2645422">
  <xsd:schema xmlns:xsd="http://www.w3.org/2001/XMLSchema" xmlns:xs="http://www.w3.org/2001/XMLSchema" xmlns:p="http://schemas.microsoft.com/office/2006/metadata/properties" xmlns:ns3="afe3c6cf-1e93-460d-a8ad-cd72f9f7b48d" xmlns:ns4="9c36bbe6-71df-4614-b292-274c2b5caa74" targetNamespace="http://schemas.microsoft.com/office/2006/metadata/properties" ma:root="true" ma:fieldsID="9e038af235844ce68599767024b11bcd" ns3:_="" ns4:_="">
    <xsd:import namespace="afe3c6cf-1e93-460d-a8ad-cd72f9f7b48d"/>
    <xsd:import namespace="9c36bbe6-71df-4614-b292-274c2b5caa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e3c6cf-1e93-460d-a8ad-cd72f9f7b4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6bbe6-71df-4614-b292-274c2b5caa7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A9F094-2CA1-4614-8134-CEC404DCC8EC}">
  <ds:schemaRefs>
    <ds:schemaRef ds:uri="http://purl.org/dc/terms/"/>
    <ds:schemaRef ds:uri="http://purl.org/dc/dcmitype/"/>
    <ds:schemaRef ds:uri="http://purl.org/dc/elements/1.1/"/>
    <ds:schemaRef ds:uri="http://www.w3.org/XML/1998/namespace"/>
    <ds:schemaRef ds:uri="9c36bbe6-71df-4614-b292-274c2b5caa74"/>
    <ds:schemaRef ds:uri="http://schemas.microsoft.com/office/2006/documentManagement/types"/>
    <ds:schemaRef ds:uri="http://schemas.microsoft.com/office/2006/metadata/properties"/>
    <ds:schemaRef ds:uri="afe3c6cf-1e93-460d-a8ad-cd72f9f7b48d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1F5C017-FC3E-4457-8AE0-6028AF1C12E3}">
  <ds:schemaRefs>
    <ds:schemaRef ds:uri="9c36bbe6-71df-4614-b292-274c2b5caa74"/>
    <ds:schemaRef ds:uri="afe3c6cf-1e93-460d-a8ad-cd72f9f7b4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0BFE2A-23A2-4D68-8514-6E80797D5C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2090</Words>
  <Application>Microsoft Macintosh PowerPoint</Application>
  <PresentationFormat>On-screen Show (4:3)</PresentationFormat>
  <Paragraphs>303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Georgia</vt:lpstr>
      <vt:lpstr>Noto Sans Symbols</vt:lpstr>
      <vt:lpstr>Trebuchet MS</vt:lpstr>
      <vt:lpstr>JN_IMG_Master</vt:lpstr>
      <vt:lpstr>PowerPoint Presentation</vt:lpstr>
      <vt:lpstr>EXECUTIVE SUMMARY</vt:lpstr>
      <vt:lpstr>LEGAL MENU REDESIGN</vt:lpstr>
      <vt:lpstr>LEGAL MENU REDESIGN</vt:lpstr>
      <vt:lpstr>LEGAL MENU REDESIGN</vt:lpstr>
      <vt:lpstr>MAIN MENU REDESIGN</vt:lpstr>
      <vt:lpstr>MAIN MENU REDESIGN</vt:lpstr>
      <vt:lpstr>SUMMARY</vt:lpstr>
      <vt:lpstr>PowerPoint Presentation</vt:lpstr>
      <vt:lpstr>PowerPoint Presentation</vt:lpstr>
      <vt:lpstr>LEGAL MENU</vt:lpstr>
      <vt:lpstr>LEGAL MENU</vt:lpstr>
      <vt:lpstr>MAIN MENU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 Edward Nixon</dc:creator>
  <cp:lastModifiedBy>Andrew Jacob Metzger</cp:lastModifiedBy>
  <cp:revision>27</cp:revision>
  <dcterms:created xsi:type="dcterms:W3CDTF">2023-01-16T23:34:09Z</dcterms:created>
  <dcterms:modified xsi:type="dcterms:W3CDTF">2025-06-11T04:15:50Z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0x010100E7E9FB77BB93CA43ACAD229C170736E2</vt:lpwstr>
  </property>
</Properties>
</file>